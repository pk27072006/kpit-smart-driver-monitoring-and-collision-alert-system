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6"/>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rimo Bold" charset="1" panose="020B0704020202020204"/>
      <p:regular r:id="rId19"/>
    </p:embeddedFont>
    <p:embeddedFont>
      <p:font typeface="Open Sans" charset="1" panose="00000000000000000000"/>
      <p:regular r:id="rId20"/>
    </p:embeddedFont>
    <p:embeddedFont>
      <p:font typeface="Open Sans Bold" charset="1" panose="00000000000000000000"/>
      <p:regular r:id="rId26"/>
    </p:embeddedFont>
    <p:embeddedFont>
      <p:font typeface="Consolas" charset="1" panose="020B0609020204030204"/>
      <p:regular r:id="rId27"/>
    </p:embeddedFont>
    <p:embeddedFont>
      <p:font typeface="Arimo" charset="1" panose="020B0604020202020204"/>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notesMasters/notesMaster1.xml" Type="http://schemas.openxmlformats.org/officeDocument/2006/relationships/notesMaster"/><Relationship Id="rId17" Target="theme/theme2.xml" Type="http://schemas.openxmlformats.org/officeDocument/2006/relationships/theme"/><Relationship Id="rId18" Target="notesSlides/notesSlide1.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notesSlides/notesSlide2.xml" Type="http://schemas.openxmlformats.org/officeDocument/2006/relationships/notesSlide"/><Relationship Id="rId22" Target="notesSlides/notesSlide3.xml" Type="http://schemas.openxmlformats.org/officeDocument/2006/relationships/notesSlide"/><Relationship Id="rId23" Target="notesSlides/notesSlide4.xml" Type="http://schemas.openxmlformats.org/officeDocument/2006/relationships/notesSlide"/><Relationship Id="rId24" Target="notesSlides/notesSlide5.xml" Type="http://schemas.openxmlformats.org/officeDocument/2006/relationships/notesSlide"/><Relationship Id="rId25" Target="notesSlides/notesSlide6.xml" Type="http://schemas.openxmlformats.org/officeDocument/2006/relationships/notesSlide"/><Relationship Id="rId26" Target="fonts/font26.fntdata" Type="http://schemas.openxmlformats.org/officeDocument/2006/relationships/font"/><Relationship Id="rId27" Target="fonts/font27.fntdata" Type="http://schemas.openxmlformats.org/officeDocument/2006/relationships/font"/><Relationship Id="rId28" Target="notesSlides/notesSlide7.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30" Target="notesSlides/notesSlide8.xml" Type="http://schemas.openxmlformats.org/officeDocument/2006/relationships/notesSlide"/><Relationship Id="rId31" Target="notesSlides/notesSlide9.xml" Type="http://schemas.openxmlformats.org/officeDocument/2006/relationships/notesSlide"/><Relationship Id="rId32" Target="notesSlides/notesSlide10.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4.png" Type="http://schemas.openxmlformats.org/officeDocument/2006/relationships/image"/><Relationship Id="rId4" Target="../media/image5.png" Type="http://schemas.openxmlformats.org/officeDocument/2006/relationships/image"/><Relationship Id="rId5" Target="../media/image6.jpeg" Type="http://schemas.openxmlformats.org/officeDocument/2006/relationships/image"/><Relationship Id="rId6" Target="../media/image7.jpeg" Type="http://schemas.openxmlformats.org/officeDocument/2006/relationships/image"/><Relationship Id="rId7" Target="../media/image8.jpeg" Type="http://schemas.openxmlformats.org/officeDocument/2006/relationships/image"/><Relationship Id="rId8"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11" Target="../media/image20.png" Type="http://schemas.openxmlformats.org/officeDocument/2006/relationships/image"/><Relationship Id="rId12" Target="../media/image21.svg" Type="http://schemas.openxmlformats.org/officeDocument/2006/relationships/image"/><Relationship Id="rId13" Target="../media/image22.png" Type="http://schemas.openxmlformats.org/officeDocument/2006/relationships/image"/><Relationship Id="rId14" Target="../media/image23.svg" Type="http://schemas.openxmlformats.org/officeDocument/2006/relationships/image"/><Relationship Id="rId2" Target="../notesSlides/notesSlide8.xml" Type="http://schemas.openxmlformats.org/officeDocument/2006/relationships/notesSlid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 Id="rId9" Target="../media/image1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svg" Type="http://schemas.openxmlformats.org/officeDocument/2006/relationships/image"/><Relationship Id="rId11" Target="../media/image32.png" Type="http://schemas.openxmlformats.org/officeDocument/2006/relationships/image"/><Relationship Id="rId12" Target="../media/image33.svg" Type="http://schemas.openxmlformats.org/officeDocument/2006/relationships/image"/><Relationship Id="rId2" Target="../notesSlides/notesSlide9.xml" Type="http://schemas.openxmlformats.org/officeDocument/2006/relationships/notesSlide"/><Relationship Id="rId3" Target="../media/image24.png" Type="http://schemas.openxmlformats.org/officeDocument/2006/relationships/image"/><Relationship Id="rId4" Target="../media/image25.svg" Type="http://schemas.openxmlformats.org/officeDocument/2006/relationships/image"/><Relationship Id="rId5" Target="../media/image26.png" Type="http://schemas.openxmlformats.org/officeDocument/2006/relationships/image"/><Relationship Id="rId6" Target="../media/image27.svg" Type="http://schemas.openxmlformats.org/officeDocument/2006/relationships/image"/><Relationship Id="rId7" Target="../media/image28.png" Type="http://schemas.openxmlformats.org/officeDocument/2006/relationships/image"/><Relationship Id="rId8" Target="../media/image29.svg" Type="http://schemas.openxmlformats.org/officeDocument/2006/relationships/image"/><Relationship Id="rId9" Target="../media/image3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34.png" Type="http://schemas.openxmlformats.org/officeDocument/2006/relationships/image"/><Relationship Id="rId4" Target="../media/image3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42454" y="797520"/>
            <a:ext cx="6693347" cy="8460780"/>
            <a:chOff x="0" y="0"/>
            <a:chExt cx="24384000" cy="30822797"/>
          </a:xfrm>
        </p:grpSpPr>
        <p:sp>
          <p:nvSpPr>
            <p:cNvPr name="Freeform 3" id="3"/>
            <p:cNvSpPr/>
            <p:nvPr/>
          </p:nvSpPr>
          <p:spPr>
            <a:xfrm flipH="false" flipV="false" rot="0">
              <a:off x="0" y="0"/>
              <a:ext cx="24384000" cy="30822798"/>
            </a:xfrm>
            <a:custGeom>
              <a:avLst/>
              <a:gdLst/>
              <a:ahLst/>
              <a:cxnLst/>
              <a:rect r="r" b="b" t="t" l="l"/>
              <a:pathLst>
                <a:path h="30822798" w="24384000">
                  <a:moveTo>
                    <a:pt x="0" y="0"/>
                  </a:moveTo>
                  <a:lnTo>
                    <a:pt x="24384000" y="0"/>
                  </a:lnTo>
                  <a:lnTo>
                    <a:pt x="24384000" y="30822798"/>
                  </a:lnTo>
                  <a:lnTo>
                    <a:pt x="0" y="30822798"/>
                  </a:lnTo>
                  <a:close/>
                </a:path>
              </a:pathLst>
            </a:custGeom>
            <a:blipFill>
              <a:blip r:embed="rId3"/>
              <a:stretch>
                <a:fillRect l="-17151" t="0" r="-9254" b="0"/>
              </a:stretch>
            </a:blipFill>
          </p:spPr>
        </p:sp>
      </p:grpSp>
      <p:sp>
        <p:nvSpPr>
          <p:cNvPr name="TextBox 4" id="4"/>
          <p:cNvSpPr txBox="true"/>
          <p:nvPr/>
        </p:nvSpPr>
        <p:spPr>
          <a:xfrm rot="0">
            <a:off x="7850238" y="2667152"/>
            <a:ext cx="9445523" cy="2363391"/>
          </a:xfrm>
          <a:prstGeom prst="rect">
            <a:avLst/>
          </a:prstGeom>
        </p:spPr>
        <p:txBody>
          <a:bodyPr anchor="t" rtlCol="false" tIns="0" lIns="0" bIns="0" rIns="0">
            <a:spAutoFit/>
          </a:bodyPr>
          <a:lstStyle/>
          <a:p>
            <a:pPr algn="l">
              <a:lnSpc>
                <a:spcPts val="5990"/>
              </a:lnSpc>
            </a:pPr>
            <a:r>
              <a:rPr lang="en-US" sz="4800" b="true">
                <a:solidFill>
                  <a:srgbClr val="333F70"/>
                </a:solidFill>
                <a:latin typeface="Arimo Bold"/>
                <a:ea typeface="Arimo Bold"/>
                <a:cs typeface="Arimo Bold"/>
                <a:sym typeface="Arimo Bold"/>
              </a:rPr>
              <a:t>Smart Driver Monitoring &amp; Collision Alert System</a:t>
            </a:r>
          </a:p>
        </p:txBody>
      </p:sp>
      <p:sp>
        <p:nvSpPr>
          <p:cNvPr name="TextBox 5" id="5"/>
          <p:cNvSpPr txBox="true"/>
          <p:nvPr/>
        </p:nvSpPr>
        <p:spPr>
          <a:xfrm rot="0">
            <a:off x="7850238" y="5316884"/>
            <a:ext cx="9445523" cy="2070497"/>
          </a:xfrm>
          <a:prstGeom prst="rect">
            <a:avLst/>
          </a:prstGeom>
        </p:spPr>
        <p:txBody>
          <a:bodyPr anchor="t" rtlCol="false" tIns="0" lIns="0" bIns="0" rIns="0">
            <a:spAutoFit/>
          </a:bodyPr>
          <a:lstStyle/>
          <a:p>
            <a:pPr algn="l">
              <a:lnSpc>
                <a:spcPts val="3830"/>
              </a:lnSpc>
            </a:pPr>
            <a:r>
              <a:rPr lang="en-US" sz="2400">
                <a:solidFill>
                  <a:srgbClr val="333F70"/>
                </a:solidFill>
                <a:latin typeface="Open Sans"/>
                <a:ea typeface="Open Sans"/>
                <a:cs typeface="Open Sans"/>
                <a:sym typeface="Open Sans"/>
              </a:rPr>
              <a:t>A real-time embedded ADAS prototype built on the STM32 Nucleo-F446RE platform, integrating multi-sensor fusion for continuous driver behaviour monitoring, dynamic collision risk assessment, and instantaneous safety alert generation.</a:t>
            </a:r>
          </a:p>
        </p:txBody>
      </p:sp>
      <p:grpSp>
        <p:nvGrpSpPr>
          <p:cNvPr name="Group 6" id="6"/>
          <p:cNvGrpSpPr/>
          <p:nvPr/>
        </p:nvGrpSpPr>
        <p:grpSpPr>
          <a:xfrm rot="0">
            <a:off x="442454" y="7387380"/>
            <a:ext cx="6693347" cy="1870920"/>
            <a:chOff x="0" y="0"/>
            <a:chExt cx="1762857" cy="492752"/>
          </a:xfrm>
        </p:grpSpPr>
        <p:sp>
          <p:nvSpPr>
            <p:cNvPr name="Freeform 7" id="7"/>
            <p:cNvSpPr/>
            <p:nvPr/>
          </p:nvSpPr>
          <p:spPr>
            <a:xfrm flipH="false" flipV="false" rot="0">
              <a:off x="0" y="0"/>
              <a:ext cx="1762857" cy="492752"/>
            </a:xfrm>
            <a:custGeom>
              <a:avLst/>
              <a:gdLst/>
              <a:ahLst/>
              <a:cxnLst/>
              <a:rect r="r" b="b" t="t" l="l"/>
              <a:pathLst>
                <a:path h="492752" w="1762857">
                  <a:moveTo>
                    <a:pt x="0" y="0"/>
                  </a:moveTo>
                  <a:lnTo>
                    <a:pt x="1762857" y="0"/>
                  </a:lnTo>
                  <a:lnTo>
                    <a:pt x="1762857" y="492752"/>
                  </a:lnTo>
                  <a:lnTo>
                    <a:pt x="0" y="492752"/>
                  </a:lnTo>
                  <a:close/>
                </a:path>
              </a:pathLst>
            </a:custGeom>
            <a:solidFill>
              <a:srgbClr val="000000"/>
            </a:solidFill>
          </p:spPr>
        </p:sp>
        <p:sp>
          <p:nvSpPr>
            <p:cNvPr name="TextBox 8" id="8"/>
            <p:cNvSpPr txBox="true"/>
            <p:nvPr/>
          </p:nvSpPr>
          <p:spPr>
            <a:xfrm>
              <a:off x="0" y="-9525"/>
              <a:ext cx="1762857" cy="502277"/>
            </a:xfrm>
            <a:prstGeom prst="rect">
              <a:avLst/>
            </a:prstGeom>
          </p:spPr>
          <p:txBody>
            <a:bodyPr anchor="ctr" rtlCol="false" tIns="50800" lIns="50800" bIns="50800" rIns="50800"/>
            <a:lstStyle/>
            <a:p>
              <a:pPr algn="ctr">
                <a:lnSpc>
                  <a:spcPts val="2496"/>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4138" y="943718"/>
            <a:ext cx="6512886" cy="8404327"/>
            <a:chOff x="0" y="0"/>
            <a:chExt cx="23352791" cy="30134796"/>
          </a:xfrm>
        </p:grpSpPr>
        <p:sp>
          <p:nvSpPr>
            <p:cNvPr name="Freeform 3" id="3"/>
            <p:cNvSpPr/>
            <p:nvPr/>
          </p:nvSpPr>
          <p:spPr>
            <a:xfrm flipH="false" flipV="false" rot="0">
              <a:off x="0" y="0"/>
              <a:ext cx="23352792" cy="30134796"/>
            </a:xfrm>
            <a:custGeom>
              <a:avLst/>
              <a:gdLst/>
              <a:ahLst/>
              <a:cxnLst/>
              <a:rect r="r" b="b" t="t" l="l"/>
              <a:pathLst>
                <a:path h="30134796" w="23352792">
                  <a:moveTo>
                    <a:pt x="0" y="0"/>
                  </a:moveTo>
                  <a:lnTo>
                    <a:pt x="23352792" y="0"/>
                  </a:lnTo>
                  <a:lnTo>
                    <a:pt x="23352792" y="30134796"/>
                  </a:lnTo>
                  <a:lnTo>
                    <a:pt x="0" y="30134796"/>
                  </a:lnTo>
                  <a:close/>
                </a:path>
              </a:pathLst>
            </a:custGeom>
            <a:blipFill>
              <a:blip r:embed="rId3"/>
              <a:stretch>
                <a:fillRect l="-44284" t="0" r="-27979" b="0"/>
              </a:stretch>
            </a:blipFill>
          </p:spPr>
        </p:sp>
      </p:grpSp>
      <p:grpSp>
        <p:nvGrpSpPr>
          <p:cNvPr name="Group 4" id="4"/>
          <p:cNvGrpSpPr/>
          <p:nvPr/>
        </p:nvGrpSpPr>
        <p:grpSpPr>
          <a:xfrm rot="0">
            <a:off x="7845476" y="5622284"/>
            <a:ext cx="4633912" cy="1936404"/>
            <a:chOff x="0" y="0"/>
            <a:chExt cx="6178550" cy="2581872"/>
          </a:xfrm>
        </p:grpSpPr>
        <p:sp>
          <p:nvSpPr>
            <p:cNvPr name="Freeform 5" id="5"/>
            <p:cNvSpPr/>
            <p:nvPr/>
          </p:nvSpPr>
          <p:spPr>
            <a:xfrm flipH="false" flipV="false" rot="0">
              <a:off x="0" y="0"/>
              <a:ext cx="6178550" cy="2581910"/>
            </a:xfrm>
            <a:custGeom>
              <a:avLst/>
              <a:gdLst/>
              <a:ahLst/>
              <a:cxnLst/>
              <a:rect r="r" b="b" t="t" l="l"/>
              <a:pathLst>
                <a:path h="2581910" w="6178550">
                  <a:moveTo>
                    <a:pt x="0" y="124333"/>
                  </a:moveTo>
                  <a:cubicBezTo>
                    <a:pt x="0" y="55626"/>
                    <a:pt x="55626" y="0"/>
                    <a:pt x="124333" y="0"/>
                  </a:cubicBezTo>
                  <a:lnTo>
                    <a:pt x="6054217" y="0"/>
                  </a:lnTo>
                  <a:cubicBezTo>
                    <a:pt x="6122924" y="0"/>
                    <a:pt x="6178550" y="55626"/>
                    <a:pt x="6178550" y="124333"/>
                  </a:cubicBezTo>
                  <a:lnTo>
                    <a:pt x="6178550" y="2457577"/>
                  </a:lnTo>
                  <a:cubicBezTo>
                    <a:pt x="6178550" y="2526284"/>
                    <a:pt x="6122924" y="2581910"/>
                    <a:pt x="6054217" y="2581910"/>
                  </a:cubicBezTo>
                  <a:lnTo>
                    <a:pt x="124333" y="2581910"/>
                  </a:lnTo>
                  <a:cubicBezTo>
                    <a:pt x="55626" y="2581910"/>
                    <a:pt x="0" y="2526284"/>
                    <a:pt x="0" y="2457577"/>
                  </a:cubicBezTo>
                  <a:close/>
                </a:path>
              </a:pathLst>
            </a:custGeom>
            <a:solidFill>
              <a:srgbClr val="D6F5EE"/>
            </a:solidFill>
            <a:ln w="9526" cap="sq">
              <a:solidFill>
                <a:srgbClr val="BCDBD4"/>
              </a:solidFill>
              <a:prstDash val="solid"/>
              <a:miter/>
            </a:ln>
          </p:spPr>
        </p:sp>
      </p:grpSp>
      <p:grpSp>
        <p:nvGrpSpPr>
          <p:cNvPr name="Group 6" id="6"/>
          <p:cNvGrpSpPr/>
          <p:nvPr/>
        </p:nvGrpSpPr>
        <p:grpSpPr>
          <a:xfrm rot="0">
            <a:off x="12666612" y="5622284"/>
            <a:ext cx="4633912" cy="1936404"/>
            <a:chOff x="0" y="0"/>
            <a:chExt cx="6178550" cy="2581872"/>
          </a:xfrm>
        </p:grpSpPr>
        <p:sp>
          <p:nvSpPr>
            <p:cNvPr name="Freeform 7" id="7"/>
            <p:cNvSpPr/>
            <p:nvPr/>
          </p:nvSpPr>
          <p:spPr>
            <a:xfrm flipH="false" flipV="false" rot="0">
              <a:off x="0" y="0"/>
              <a:ext cx="6178550" cy="2581910"/>
            </a:xfrm>
            <a:custGeom>
              <a:avLst/>
              <a:gdLst/>
              <a:ahLst/>
              <a:cxnLst/>
              <a:rect r="r" b="b" t="t" l="l"/>
              <a:pathLst>
                <a:path h="2581910" w="6178550">
                  <a:moveTo>
                    <a:pt x="0" y="124333"/>
                  </a:moveTo>
                  <a:cubicBezTo>
                    <a:pt x="0" y="55626"/>
                    <a:pt x="55626" y="0"/>
                    <a:pt x="124333" y="0"/>
                  </a:cubicBezTo>
                  <a:lnTo>
                    <a:pt x="6054217" y="0"/>
                  </a:lnTo>
                  <a:cubicBezTo>
                    <a:pt x="6122924" y="0"/>
                    <a:pt x="6178550" y="55626"/>
                    <a:pt x="6178550" y="124333"/>
                  </a:cubicBezTo>
                  <a:lnTo>
                    <a:pt x="6178550" y="2457577"/>
                  </a:lnTo>
                  <a:cubicBezTo>
                    <a:pt x="6178550" y="2526284"/>
                    <a:pt x="6122924" y="2581910"/>
                    <a:pt x="6054217" y="2581910"/>
                  </a:cubicBezTo>
                  <a:lnTo>
                    <a:pt x="124333" y="2581910"/>
                  </a:lnTo>
                  <a:cubicBezTo>
                    <a:pt x="55626" y="2581910"/>
                    <a:pt x="0" y="2526284"/>
                    <a:pt x="0" y="2457577"/>
                  </a:cubicBezTo>
                  <a:close/>
                </a:path>
              </a:pathLst>
            </a:custGeom>
            <a:solidFill>
              <a:srgbClr val="D6F5EE"/>
            </a:solidFill>
            <a:ln w="9526" cap="sq">
              <a:solidFill>
                <a:srgbClr val="BCDBD4"/>
              </a:solidFill>
              <a:prstDash val="solid"/>
              <a:miter/>
            </a:ln>
          </p:spPr>
        </p:sp>
      </p:grpSp>
      <p:grpSp>
        <p:nvGrpSpPr>
          <p:cNvPr name="Group 8" id="8"/>
          <p:cNvGrpSpPr/>
          <p:nvPr/>
        </p:nvGrpSpPr>
        <p:grpSpPr>
          <a:xfrm rot="0">
            <a:off x="7845476" y="7745911"/>
            <a:ext cx="4633912" cy="1602134"/>
            <a:chOff x="0" y="0"/>
            <a:chExt cx="6178550" cy="2136178"/>
          </a:xfrm>
        </p:grpSpPr>
        <p:sp>
          <p:nvSpPr>
            <p:cNvPr name="Freeform 9" id="9"/>
            <p:cNvSpPr/>
            <p:nvPr/>
          </p:nvSpPr>
          <p:spPr>
            <a:xfrm flipH="false" flipV="false" rot="0">
              <a:off x="0" y="0"/>
              <a:ext cx="6178550" cy="2136140"/>
            </a:xfrm>
            <a:custGeom>
              <a:avLst/>
              <a:gdLst/>
              <a:ahLst/>
              <a:cxnLst/>
              <a:rect r="r" b="b" t="t" l="l"/>
              <a:pathLst>
                <a:path h="2136140" w="6178550">
                  <a:moveTo>
                    <a:pt x="0" y="124460"/>
                  </a:moveTo>
                  <a:cubicBezTo>
                    <a:pt x="0" y="55753"/>
                    <a:pt x="55753" y="0"/>
                    <a:pt x="124460" y="0"/>
                  </a:cubicBezTo>
                  <a:lnTo>
                    <a:pt x="6054090" y="0"/>
                  </a:lnTo>
                  <a:cubicBezTo>
                    <a:pt x="6122797" y="0"/>
                    <a:pt x="6178550" y="55753"/>
                    <a:pt x="6178550" y="124460"/>
                  </a:cubicBezTo>
                  <a:lnTo>
                    <a:pt x="6178550" y="2011680"/>
                  </a:lnTo>
                  <a:cubicBezTo>
                    <a:pt x="6178550" y="2080387"/>
                    <a:pt x="6122797" y="2136140"/>
                    <a:pt x="6054090" y="2136140"/>
                  </a:cubicBezTo>
                  <a:lnTo>
                    <a:pt x="124460" y="2136140"/>
                  </a:lnTo>
                  <a:cubicBezTo>
                    <a:pt x="55753" y="2136140"/>
                    <a:pt x="0" y="2080387"/>
                    <a:pt x="0" y="2011680"/>
                  </a:cubicBezTo>
                  <a:close/>
                </a:path>
              </a:pathLst>
            </a:custGeom>
            <a:solidFill>
              <a:srgbClr val="D6F5EE"/>
            </a:solidFill>
            <a:ln w="9526" cap="sq">
              <a:solidFill>
                <a:srgbClr val="BCDBD4"/>
              </a:solidFill>
              <a:prstDash val="solid"/>
              <a:miter/>
            </a:ln>
          </p:spPr>
        </p:sp>
      </p:grpSp>
      <p:grpSp>
        <p:nvGrpSpPr>
          <p:cNvPr name="Group 10" id="10"/>
          <p:cNvGrpSpPr/>
          <p:nvPr/>
        </p:nvGrpSpPr>
        <p:grpSpPr>
          <a:xfrm rot="0">
            <a:off x="12666612" y="7745911"/>
            <a:ext cx="4633912" cy="1602134"/>
            <a:chOff x="0" y="0"/>
            <a:chExt cx="6178550" cy="2136178"/>
          </a:xfrm>
        </p:grpSpPr>
        <p:sp>
          <p:nvSpPr>
            <p:cNvPr name="Freeform 11" id="11"/>
            <p:cNvSpPr/>
            <p:nvPr/>
          </p:nvSpPr>
          <p:spPr>
            <a:xfrm flipH="false" flipV="false" rot="0">
              <a:off x="0" y="0"/>
              <a:ext cx="6178550" cy="2136140"/>
            </a:xfrm>
            <a:custGeom>
              <a:avLst/>
              <a:gdLst/>
              <a:ahLst/>
              <a:cxnLst/>
              <a:rect r="r" b="b" t="t" l="l"/>
              <a:pathLst>
                <a:path h="2136140" w="6178550">
                  <a:moveTo>
                    <a:pt x="0" y="124460"/>
                  </a:moveTo>
                  <a:cubicBezTo>
                    <a:pt x="0" y="55753"/>
                    <a:pt x="55753" y="0"/>
                    <a:pt x="124460" y="0"/>
                  </a:cubicBezTo>
                  <a:lnTo>
                    <a:pt x="6054090" y="0"/>
                  </a:lnTo>
                  <a:cubicBezTo>
                    <a:pt x="6122797" y="0"/>
                    <a:pt x="6178550" y="55753"/>
                    <a:pt x="6178550" y="124460"/>
                  </a:cubicBezTo>
                  <a:lnTo>
                    <a:pt x="6178550" y="2011680"/>
                  </a:lnTo>
                  <a:cubicBezTo>
                    <a:pt x="6178550" y="2080387"/>
                    <a:pt x="6122797" y="2136140"/>
                    <a:pt x="6054090" y="2136140"/>
                  </a:cubicBezTo>
                  <a:lnTo>
                    <a:pt x="124460" y="2136140"/>
                  </a:lnTo>
                  <a:cubicBezTo>
                    <a:pt x="55753" y="2136140"/>
                    <a:pt x="0" y="2080387"/>
                    <a:pt x="0" y="2011680"/>
                  </a:cubicBezTo>
                  <a:close/>
                </a:path>
              </a:pathLst>
            </a:custGeom>
            <a:solidFill>
              <a:srgbClr val="D6F5EE"/>
            </a:solidFill>
            <a:ln w="9526" cap="sq">
              <a:solidFill>
                <a:srgbClr val="BCDBD4"/>
              </a:solidFill>
              <a:prstDash val="solid"/>
              <a:miter/>
            </a:ln>
          </p:spPr>
        </p:sp>
      </p:grpSp>
      <p:sp>
        <p:nvSpPr>
          <p:cNvPr name="TextBox 12" id="12"/>
          <p:cNvSpPr txBox="true"/>
          <p:nvPr/>
        </p:nvSpPr>
        <p:spPr>
          <a:xfrm rot="0">
            <a:off x="7850238" y="924668"/>
            <a:ext cx="6563468" cy="364331"/>
          </a:xfrm>
          <a:prstGeom prst="rect">
            <a:avLst/>
          </a:prstGeom>
        </p:spPr>
        <p:txBody>
          <a:bodyPr anchor="t" rtlCol="false" tIns="0" lIns="0" bIns="0" rIns="0">
            <a:spAutoFit/>
          </a:bodyPr>
          <a:lstStyle/>
          <a:p>
            <a:pPr algn="l">
              <a:lnSpc>
                <a:spcPts val="2620"/>
              </a:lnSpc>
            </a:pPr>
            <a:r>
              <a:rPr lang="en-US" sz="2100" b="true">
                <a:solidFill>
                  <a:srgbClr val="333F70"/>
                </a:solidFill>
                <a:latin typeface="Arimo Bold"/>
                <a:ea typeface="Arimo Bold"/>
                <a:cs typeface="Arimo Bold"/>
                <a:sym typeface="Arimo Bold"/>
              </a:rPr>
              <a:t>Problem Statement &amp; Objectives</a:t>
            </a:r>
          </a:p>
        </p:txBody>
      </p:sp>
      <p:sp>
        <p:nvSpPr>
          <p:cNvPr name="TextBox 13" id="13"/>
          <p:cNvSpPr txBox="true"/>
          <p:nvPr/>
        </p:nvSpPr>
        <p:spPr>
          <a:xfrm rot="0">
            <a:off x="7850238" y="1329480"/>
            <a:ext cx="9445523" cy="2109788"/>
          </a:xfrm>
          <a:prstGeom prst="rect">
            <a:avLst/>
          </a:prstGeom>
        </p:spPr>
        <p:txBody>
          <a:bodyPr anchor="t" rtlCol="false" tIns="0" lIns="0" bIns="0" rIns="0">
            <a:spAutoFit/>
          </a:bodyPr>
          <a:lstStyle/>
          <a:p>
            <a:pPr algn="l">
              <a:lnSpc>
                <a:spcPts val="5366"/>
              </a:lnSpc>
            </a:pPr>
            <a:r>
              <a:rPr lang="en-US" sz="4300" b="true">
                <a:solidFill>
                  <a:srgbClr val="333F70"/>
                </a:solidFill>
                <a:latin typeface="Arimo Bold"/>
                <a:ea typeface="Arimo Bold"/>
                <a:cs typeface="Arimo Bold"/>
                <a:sym typeface="Arimo Bold"/>
              </a:rPr>
              <a:t>Improving Vehicle Safety with Low-Cost Embedded Hardware</a:t>
            </a:r>
          </a:p>
        </p:txBody>
      </p:sp>
      <p:sp>
        <p:nvSpPr>
          <p:cNvPr name="TextBox 14" id="14"/>
          <p:cNvSpPr txBox="true"/>
          <p:nvPr/>
        </p:nvSpPr>
        <p:spPr>
          <a:xfrm rot="0">
            <a:off x="7850238" y="3686775"/>
            <a:ext cx="9445523" cy="1599514"/>
          </a:xfrm>
          <a:prstGeom prst="rect">
            <a:avLst/>
          </a:prstGeom>
        </p:spPr>
        <p:txBody>
          <a:bodyPr anchor="t" rtlCol="false" tIns="0" lIns="0" bIns="0" rIns="0">
            <a:spAutoFit/>
          </a:bodyPr>
          <a:lstStyle/>
          <a:p>
            <a:pPr algn="l">
              <a:lnSpc>
                <a:spcPts val="2570"/>
              </a:lnSpc>
            </a:pPr>
            <a:r>
              <a:rPr lang="en-US" sz="1700">
                <a:solidFill>
                  <a:srgbClr val="333F70"/>
                </a:solidFill>
                <a:latin typeface="Open Sans"/>
                <a:ea typeface="Open Sans"/>
                <a:cs typeface="Open Sans"/>
                <a:sym typeface="Open Sans"/>
              </a:rPr>
              <a:t>Objective : To build a </a:t>
            </a:r>
            <a:r>
              <a:rPr lang="en-US" sz="1700">
                <a:solidFill>
                  <a:srgbClr val="333F70"/>
                </a:solidFill>
                <a:latin typeface="Open Sans"/>
                <a:ea typeface="Open Sans"/>
                <a:cs typeface="Open Sans"/>
                <a:sym typeface="Open Sans"/>
              </a:rPr>
              <a:t>real-time embedded ADAS prototype capable of continuously monitoring driver state and vehicle dynamics using affordable sensors. The objective is to improve vehicle safety through real-time sensor processing, dynamic threshold-based decision logic, and immediate alert generation all within the resource constraints of a single microcontroller.</a:t>
            </a:r>
          </a:p>
        </p:txBody>
      </p:sp>
      <p:sp>
        <p:nvSpPr>
          <p:cNvPr name="TextBox 15" id="15"/>
          <p:cNvSpPr txBox="true"/>
          <p:nvPr/>
        </p:nvSpPr>
        <p:spPr>
          <a:xfrm rot="0">
            <a:off x="8080619" y="5838377"/>
            <a:ext cx="3036389" cy="364331"/>
          </a:xfrm>
          <a:prstGeom prst="rect">
            <a:avLst/>
          </a:prstGeom>
        </p:spPr>
        <p:txBody>
          <a:bodyPr anchor="t" rtlCol="false" tIns="0" lIns="0" bIns="0" rIns="0">
            <a:spAutoFit/>
          </a:bodyPr>
          <a:lstStyle/>
          <a:p>
            <a:pPr algn="l">
              <a:lnSpc>
                <a:spcPts val="2620"/>
              </a:lnSpc>
            </a:pPr>
            <a:r>
              <a:rPr lang="en-US" sz="2100" b="true">
                <a:solidFill>
                  <a:srgbClr val="333F70"/>
                </a:solidFill>
                <a:latin typeface="Arimo Bold"/>
                <a:ea typeface="Arimo Bold"/>
                <a:cs typeface="Arimo Bold"/>
                <a:sym typeface="Arimo Bold"/>
              </a:rPr>
              <a:t>Driver Monitoring</a:t>
            </a:r>
          </a:p>
        </p:txBody>
      </p:sp>
      <p:sp>
        <p:nvSpPr>
          <p:cNvPr name="TextBox 16" id="16"/>
          <p:cNvSpPr txBox="true"/>
          <p:nvPr/>
        </p:nvSpPr>
        <p:spPr>
          <a:xfrm rot="0">
            <a:off x="8080619" y="6273108"/>
            <a:ext cx="4163616" cy="716166"/>
          </a:xfrm>
          <a:prstGeom prst="rect">
            <a:avLst/>
          </a:prstGeom>
        </p:spPr>
        <p:txBody>
          <a:bodyPr anchor="t" rtlCol="false" tIns="0" lIns="0" bIns="0" rIns="0">
            <a:spAutoFit/>
          </a:bodyPr>
          <a:lstStyle/>
          <a:p>
            <a:pPr algn="l">
              <a:lnSpc>
                <a:spcPts val="2570"/>
              </a:lnSpc>
            </a:pPr>
            <a:r>
              <a:rPr lang="en-US" sz="1700">
                <a:solidFill>
                  <a:srgbClr val="333F70"/>
                </a:solidFill>
                <a:latin typeface="Open Sans"/>
                <a:ea typeface="Open Sans"/>
                <a:cs typeface="Open Sans"/>
                <a:sym typeface="Open Sans"/>
              </a:rPr>
              <a:t>Drowsiness detection via IR eye blink sensing with interrupt-driven timer</a:t>
            </a:r>
          </a:p>
        </p:txBody>
      </p:sp>
      <p:sp>
        <p:nvSpPr>
          <p:cNvPr name="TextBox 17" id="17"/>
          <p:cNvSpPr txBox="true"/>
          <p:nvPr/>
        </p:nvSpPr>
        <p:spPr>
          <a:xfrm rot="0">
            <a:off x="12901765" y="5838377"/>
            <a:ext cx="2761955" cy="364331"/>
          </a:xfrm>
          <a:prstGeom prst="rect">
            <a:avLst/>
          </a:prstGeom>
        </p:spPr>
        <p:txBody>
          <a:bodyPr anchor="t" rtlCol="false" tIns="0" lIns="0" bIns="0" rIns="0">
            <a:spAutoFit/>
          </a:bodyPr>
          <a:lstStyle/>
          <a:p>
            <a:pPr algn="l">
              <a:lnSpc>
                <a:spcPts val="2620"/>
              </a:lnSpc>
            </a:pPr>
            <a:r>
              <a:rPr lang="en-US" sz="2100" b="true">
                <a:solidFill>
                  <a:srgbClr val="333F70"/>
                </a:solidFill>
                <a:latin typeface="Arimo Bold"/>
                <a:ea typeface="Arimo Bold"/>
                <a:cs typeface="Arimo Bold"/>
                <a:sym typeface="Arimo Bold"/>
              </a:rPr>
              <a:t>Collision Alert</a:t>
            </a:r>
          </a:p>
        </p:txBody>
      </p:sp>
      <p:sp>
        <p:nvSpPr>
          <p:cNvPr name="TextBox 18" id="18"/>
          <p:cNvSpPr txBox="true"/>
          <p:nvPr/>
        </p:nvSpPr>
        <p:spPr>
          <a:xfrm rot="0">
            <a:off x="12901765" y="6273108"/>
            <a:ext cx="4163616" cy="1050427"/>
          </a:xfrm>
          <a:prstGeom prst="rect">
            <a:avLst/>
          </a:prstGeom>
        </p:spPr>
        <p:txBody>
          <a:bodyPr anchor="t" rtlCol="false" tIns="0" lIns="0" bIns="0" rIns="0">
            <a:spAutoFit/>
          </a:bodyPr>
          <a:lstStyle/>
          <a:p>
            <a:pPr algn="l">
              <a:lnSpc>
                <a:spcPts val="2570"/>
              </a:lnSpc>
            </a:pPr>
            <a:r>
              <a:rPr lang="en-US" sz="1700">
                <a:solidFill>
                  <a:srgbClr val="333F70"/>
                </a:solidFill>
                <a:latin typeface="Open Sans"/>
                <a:ea typeface="Open Sans"/>
                <a:cs typeface="Open Sans"/>
                <a:sym typeface="Open Sans"/>
              </a:rPr>
              <a:t>Dynamic safe distance calculation based on real-time speed and obstacle proximity</a:t>
            </a:r>
          </a:p>
        </p:txBody>
      </p:sp>
      <p:sp>
        <p:nvSpPr>
          <p:cNvPr name="TextBox 19" id="19"/>
          <p:cNvSpPr txBox="true"/>
          <p:nvPr/>
        </p:nvSpPr>
        <p:spPr>
          <a:xfrm rot="0">
            <a:off x="8080619" y="7962005"/>
            <a:ext cx="3079404" cy="364331"/>
          </a:xfrm>
          <a:prstGeom prst="rect">
            <a:avLst/>
          </a:prstGeom>
        </p:spPr>
        <p:txBody>
          <a:bodyPr anchor="t" rtlCol="false" tIns="0" lIns="0" bIns="0" rIns="0">
            <a:spAutoFit/>
          </a:bodyPr>
          <a:lstStyle/>
          <a:p>
            <a:pPr algn="l">
              <a:lnSpc>
                <a:spcPts val="2620"/>
              </a:lnSpc>
            </a:pPr>
            <a:r>
              <a:rPr lang="en-US" sz="2100" b="true">
                <a:solidFill>
                  <a:srgbClr val="333F70"/>
                </a:solidFill>
                <a:latin typeface="Arimo Bold"/>
                <a:ea typeface="Arimo Bold"/>
                <a:cs typeface="Arimo Bold"/>
                <a:sym typeface="Arimo Bold"/>
              </a:rPr>
              <a:t>Driving Behaviour</a:t>
            </a:r>
          </a:p>
        </p:txBody>
      </p:sp>
      <p:sp>
        <p:nvSpPr>
          <p:cNvPr name="TextBox 20" id="20"/>
          <p:cNvSpPr txBox="true"/>
          <p:nvPr/>
        </p:nvSpPr>
        <p:spPr>
          <a:xfrm rot="0">
            <a:off x="8080619" y="8396735"/>
            <a:ext cx="4163616" cy="716166"/>
          </a:xfrm>
          <a:prstGeom prst="rect">
            <a:avLst/>
          </a:prstGeom>
        </p:spPr>
        <p:txBody>
          <a:bodyPr anchor="t" rtlCol="false" tIns="0" lIns="0" bIns="0" rIns="0">
            <a:spAutoFit/>
          </a:bodyPr>
          <a:lstStyle/>
          <a:p>
            <a:pPr algn="l">
              <a:lnSpc>
                <a:spcPts val="2570"/>
              </a:lnSpc>
            </a:pPr>
            <a:r>
              <a:rPr lang="en-US" sz="1700">
                <a:solidFill>
                  <a:srgbClr val="333F70"/>
                </a:solidFill>
                <a:latin typeface="Open Sans"/>
                <a:ea typeface="Open Sans"/>
                <a:cs typeface="Open Sans"/>
                <a:sym typeface="Open Sans"/>
              </a:rPr>
              <a:t>Harsh braking, acceleration, and turning detection through 6-axis IMU data</a:t>
            </a:r>
          </a:p>
        </p:txBody>
      </p:sp>
      <p:sp>
        <p:nvSpPr>
          <p:cNvPr name="TextBox 21" id="21"/>
          <p:cNvSpPr txBox="true"/>
          <p:nvPr/>
        </p:nvSpPr>
        <p:spPr>
          <a:xfrm rot="0">
            <a:off x="12901765" y="7962005"/>
            <a:ext cx="3081928" cy="364331"/>
          </a:xfrm>
          <a:prstGeom prst="rect">
            <a:avLst/>
          </a:prstGeom>
        </p:spPr>
        <p:txBody>
          <a:bodyPr anchor="t" rtlCol="false" tIns="0" lIns="0" bIns="0" rIns="0">
            <a:spAutoFit/>
          </a:bodyPr>
          <a:lstStyle/>
          <a:p>
            <a:pPr algn="l">
              <a:lnSpc>
                <a:spcPts val="2620"/>
              </a:lnSpc>
            </a:pPr>
            <a:r>
              <a:rPr lang="en-US" sz="2100" b="true">
                <a:solidFill>
                  <a:srgbClr val="333F70"/>
                </a:solidFill>
                <a:latin typeface="Arimo Bold"/>
                <a:ea typeface="Arimo Bold"/>
                <a:cs typeface="Arimo Bold"/>
                <a:sym typeface="Arimo Bold"/>
              </a:rPr>
              <a:t>Speed Monitoring</a:t>
            </a:r>
          </a:p>
        </p:txBody>
      </p:sp>
      <p:sp>
        <p:nvSpPr>
          <p:cNvPr name="TextBox 22" id="22"/>
          <p:cNvSpPr txBox="true"/>
          <p:nvPr/>
        </p:nvSpPr>
        <p:spPr>
          <a:xfrm rot="0">
            <a:off x="12901765" y="8396735"/>
            <a:ext cx="4163616" cy="716166"/>
          </a:xfrm>
          <a:prstGeom prst="rect">
            <a:avLst/>
          </a:prstGeom>
        </p:spPr>
        <p:txBody>
          <a:bodyPr anchor="t" rtlCol="false" tIns="0" lIns="0" bIns="0" rIns="0">
            <a:spAutoFit/>
          </a:bodyPr>
          <a:lstStyle/>
          <a:p>
            <a:pPr algn="l">
              <a:lnSpc>
                <a:spcPts val="2570"/>
              </a:lnSpc>
            </a:pPr>
            <a:r>
              <a:rPr lang="en-US" sz="1700">
                <a:solidFill>
                  <a:srgbClr val="333F70"/>
                </a:solidFill>
                <a:latin typeface="Open Sans"/>
                <a:ea typeface="Open Sans"/>
                <a:cs typeface="Open Sans"/>
                <a:sym typeface="Open Sans"/>
              </a:rPr>
              <a:t>GPS-based overspeed detection with configurable speed thresholds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6F5E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92238" y="663178"/>
            <a:ext cx="2946949" cy="212827"/>
          </a:xfrm>
          <a:prstGeom prst="rect">
            <a:avLst/>
          </a:prstGeom>
        </p:spPr>
        <p:txBody>
          <a:bodyPr anchor="t" rtlCol="false" tIns="0" lIns="0" bIns="0" rIns="0">
            <a:spAutoFit/>
          </a:bodyPr>
          <a:lstStyle/>
          <a:p>
            <a:pPr algn="l">
              <a:lnSpc>
                <a:spcPts val="1497"/>
              </a:lnSpc>
            </a:pPr>
            <a:r>
              <a:rPr lang="en-US" sz="1200" b="true">
                <a:solidFill>
                  <a:srgbClr val="333F70"/>
                </a:solidFill>
                <a:latin typeface="Arimo Bold"/>
                <a:ea typeface="Arimo Bold"/>
                <a:cs typeface="Arimo Bold"/>
                <a:sym typeface="Arimo Bold"/>
              </a:rPr>
              <a:t>System Architecture</a:t>
            </a:r>
          </a:p>
        </p:txBody>
      </p:sp>
      <p:sp>
        <p:nvSpPr>
          <p:cNvPr name="TextBox 7" id="7"/>
          <p:cNvSpPr txBox="true"/>
          <p:nvPr/>
        </p:nvSpPr>
        <p:spPr>
          <a:xfrm rot="0">
            <a:off x="992238" y="881663"/>
            <a:ext cx="8736654" cy="406746"/>
          </a:xfrm>
          <a:prstGeom prst="rect">
            <a:avLst/>
          </a:prstGeom>
        </p:spPr>
        <p:txBody>
          <a:bodyPr anchor="t" rtlCol="false" tIns="0" lIns="0" bIns="0" rIns="0">
            <a:spAutoFit/>
          </a:bodyPr>
          <a:lstStyle/>
          <a:p>
            <a:pPr algn="l">
              <a:lnSpc>
                <a:spcPts val="2995"/>
              </a:lnSpc>
            </a:pPr>
            <a:r>
              <a:rPr lang="en-US" sz="2400" b="true">
                <a:solidFill>
                  <a:srgbClr val="333F70"/>
                </a:solidFill>
                <a:latin typeface="Arimo Bold"/>
                <a:ea typeface="Arimo Bold"/>
                <a:cs typeface="Arimo Bold"/>
                <a:sym typeface="Arimo Bold"/>
              </a:rPr>
              <a:t>STM32-Centric Multi-Sensor Integration</a:t>
            </a:r>
          </a:p>
        </p:txBody>
      </p:sp>
      <p:sp>
        <p:nvSpPr>
          <p:cNvPr name="TextBox 8" id="8"/>
          <p:cNvSpPr txBox="true"/>
          <p:nvPr/>
        </p:nvSpPr>
        <p:spPr>
          <a:xfrm rot="0">
            <a:off x="992238" y="1390945"/>
            <a:ext cx="16303523" cy="647700"/>
          </a:xfrm>
          <a:prstGeom prst="rect">
            <a:avLst/>
          </a:prstGeom>
        </p:spPr>
        <p:txBody>
          <a:bodyPr anchor="t" rtlCol="false" tIns="0" lIns="0" bIns="0" rIns="0">
            <a:spAutoFit/>
          </a:bodyPr>
          <a:lstStyle/>
          <a:p>
            <a:pPr algn="l">
              <a:lnSpc>
                <a:spcPts val="1799"/>
              </a:lnSpc>
            </a:pPr>
            <a:r>
              <a:rPr lang="en-US" sz="1499">
                <a:solidFill>
                  <a:srgbClr val="333F70"/>
                </a:solidFill>
                <a:latin typeface="Open Sans"/>
                <a:ea typeface="Open Sans"/>
                <a:cs typeface="Open Sans"/>
                <a:sym typeface="Open Sans"/>
              </a:rPr>
              <a:t>The STM32 Nucleo-F446RE serves as the central processing unit, interfacing with four distinct sensors across three communication protocols. UART handles GPS data streams, I²C connects the MPU6050 IMU for real-time accelerometer and gyroscope readings, and GPIO manages the ultrasonic distance sensor and IR eye blink sensor. All sensor data is processed through interrupt-driven routines for deterministic, real-time performance.</a:t>
            </a:r>
          </a:p>
        </p:txBody>
      </p:sp>
      <p:grpSp>
        <p:nvGrpSpPr>
          <p:cNvPr name="Group 9" id="9"/>
          <p:cNvGrpSpPr/>
          <p:nvPr/>
        </p:nvGrpSpPr>
        <p:grpSpPr>
          <a:xfrm rot="0">
            <a:off x="992238" y="2133895"/>
            <a:ext cx="16303523" cy="8079724"/>
            <a:chOff x="0" y="0"/>
            <a:chExt cx="21738031" cy="10772966"/>
          </a:xfrm>
        </p:grpSpPr>
        <p:sp>
          <p:nvSpPr>
            <p:cNvPr name="Freeform 10" id="10" descr="preencoded.png"/>
            <p:cNvSpPr/>
            <p:nvPr/>
          </p:nvSpPr>
          <p:spPr>
            <a:xfrm flipH="false" flipV="false" rot="0">
              <a:off x="0" y="0"/>
              <a:ext cx="21738082" cy="10772917"/>
            </a:xfrm>
            <a:custGeom>
              <a:avLst/>
              <a:gdLst/>
              <a:ahLst/>
              <a:cxnLst/>
              <a:rect r="r" b="b" t="t" l="l"/>
              <a:pathLst>
                <a:path h="10772917" w="21738082">
                  <a:moveTo>
                    <a:pt x="0" y="0"/>
                  </a:moveTo>
                  <a:lnTo>
                    <a:pt x="21738082" y="0"/>
                  </a:lnTo>
                  <a:lnTo>
                    <a:pt x="21738082" y="10772917"/>
                  </a:lnTo>
                  <a:lnTo>
                    <a:pt x="0" y="10772917"/>
                  </a:lnTo>
                  <a:lnTo>
                    <a:pt x="0" y="0"/>
                  </a:lnTo>
                  <a:close/>
                </a:path>
              </a:pathLst>
            </a:custGeom>
            <a:blipFill>
              <a:blip r:embed="rId3"/>
              <a:stretch>
                <a:fillRect l="0" t="-2390" r="0" b="-2391"/>
              </a:stretch>
            </a:blipFill>
          </p:spPr>
        </p:sp>
      </p:grpSp>
      <p:sp>
        <p:nvSpPr>
          <p:cNvPr name="TextBox 11" id="11"/>
          <p:cNvSpPr txBox="true"/>
          <p:nvPr/>
        </p:nvSpPr>
        <p:spPr>
          <a:xfrm rot="0">
            <a:off x="8121796" y="5263648"/>
            <a:ext cx="2011842" cy="1386573"/>
          </a:xfrm>
          <a:prstGeom prst="rect">
            <a:avLst/>
          </a:prstGeom>
        </p:spPr>
        <p:txBody>
          <a:bodyPr anchor="t" rtlCol="false" tIns="0" lIns="0" bIns="0" rIns="0">
            <a:spAutoFit/>
          </a:bodyPr>
          <a:lstStyle/>
          <a:p>
            <a:pPr algn="ctr">
              <a:lnSpc>
                <a:spcPts val="3494"/>
              </a:lnSpc>
            </a:pPr>
            <a:r>
              <a:rPr lang="en-US" sz="2799" b="true">
                <a:solidFill>
                  <a:srgbClr val="FFFFFF"/>
                </a:solidFill>
                <a:latin typeface="Arimo Bold"/>
                <a:ea typeface="Arimo Bold"/>
                <a:cs typeface="Arimo Bold"/>
                <a:sym typeface="Arimo Bold"/>
              </a:rPr>
              <a:t>STM32 Nucleo-F446RE</a:t>
            </a:r>
          </a:p>
        </p:txBody>
      </p:sp>
      <p:sp>
        <p:nvSpPr>
          <p:cNvPr name="TextBox 12" id="12"/>
          <p:cNvSpPr txBox="true"/>
          <p:nvPr/>
        </p:nvSpPr>
        <p:spPr>
          <a:xfrm rot="0">
            <a:off x="1378096" y="3466824"/>
            <a:ext cx="3524745" cy="481241"/>
          </a:xfrm>
          <a:prstGeom prst="rect">
            <a:avLst/>
          </a:prstGeom>
        </p:spPr>
        <p:txBody>
          <a:bodyPr anchor="t" rtlCol="false" tIns="0" lIns="0" bIns="0" rIns="0">
            <a:spAutoFit/>
          </a:bodyPr>
          <a:lstStyle/>
          <a:p>
            <a:pPr algn="l">
              <a:lnSpc>
                <a:spcPts val="3494"/>
              </a:lnSpc>
            </a:pPr>
            <a:r>
              <a:rPr lang="en-US" sz="2799" b="true">
                <a:solidFill>
                  <a:srgbClr val="333F70"/>
                </a:solidFill>
                <a:latin typeface="Arimo Bold"/>
                <a:ea typeface="Arimo Bold"/>
                <a:cs typeface="Arimo Bold"/>
                <a:sym typeface="Arimo Bold"/>
              </a:rPr>
              <a:t>IR Eye Blink</a:t>
            </a:r>
          </a:p>
        </p:txBody>
      </p:sp>
      <p:sp>
        <p:nvSpPr>
          <p:cNvPr name="TextBox 13" id="13"/>
          <p:cNvSpPr txBox="true"/>
          <p:nvPr/>
        </p:nvSpPr>
        <p:spPr>
          <a:xfrm rot="0">
            <a:off x="1378096" y="4133974"/>
            <a:ext cx="3524745" cy="530962"/>
          </a:xfrm>
          <a:prstGeom prst="rect">
            <a:avLst/>
          </a:prstGeom>
        </p:spPr>
        <p:txBody>
          <a:bodyPr anchor="t" rtlCol="false" tIns="0" lIns="0" bIns="0" rIns="0">
            <a:spAutoFit/>
          </a:bodyPr>
          <a:lstStyle/>
          <a:p>
            <a:pPr algn="l">
              <a:lnSpc>
                <a:spcPts val="2059"/>
              </a:lnSpc>
            </a:pPr>
            <a:r>
              <a:rPr lang="en-US" sz="2200">
                <a:solidFill>
                  <a:srgbClr val="333F70"/>
                </a:solidFill>
                <a:latin typeface="Open Sans"/>
                <a:ea typeface="Open Sans"/>
                <a:cs typeface="Open Sans"/>
                <a:sym typeface="Open Sans"/>
              </a:rPr>
              <a:t>GPIO — digital input for blink detection</a:t>
            </a:r>
          </a:p>
        </p:txBody>
      </p:sp>
      <p:sp>
        <p:nvSpPr>
          <p:cNvPr name="TextBox 14" id="14"/>
          <p:cNvSpPr txBox="true"/>
          <p:nvPr/>
        </p:nvSpPr>
        <p:spPr>
          <a:xfrm rot="0">
            <a:off x="13384778" y="3466824"/>
            <a:ext cx="3524755" cy="933907"/>
          </a:xfrm>
          <a:prstGeom prst="rect">
            <a:avLst/>
          </a:prstGeom>
        </p:spPr>
        <p:txBody>
          <a:bodyPr anchor="t" rtlCol="false" tIns="0" lIns="0" bIns="0" rIns="0">
            <a:spAutoFit/>
          </a:bodyPr>
          <a:lstStyle/>
          <a:p>
            <a:pPr algn="l">
              <a:lnSpc>
                <a:spcPts val="3494"/>
              </a:lnSpc>
            </a:pPr>
            <a:r>
              <a:rPr lang="en-US" sz="2799" b="true">
                <a:solidFill>
                  <a:srgbClr val="333F70"/>
                </a:solidFill>
                <a:latin typeface="Arimo Bold"/>
                <a:ea typeface="Arimo Bold"/>
                <a:cs typeface="Arimo Bold"/>
                <a:sym typeface="Arimo Bold"/>
              </a:rPr>
              <a:t>HC-SR04 Ultrasonic</a:t>
            </a:r>
          </a:p>
        </p:txBody>
      </p:sp>
      <p:sp>
        <p:nvSpPr>
          <p:cNvPr name="TextBox 15" id="15"/>
          <p:cNvSpPr txBox="true"/>
          <p:nvPr/>
        </p:nvSpPr>
        <p:spPr>
          <a:xfrm rot="0">
            <a:off x="13384778" y="4586630"/>
            <a:ext cx="3524755" cy="486051"/>
          </a:xfrm>
          <a:prstGeom prst="rect">
            <a:avLst/>
          </a:prstGeom>
        </p:spPr>
        <p:txBody>
          <a:bodyPr anchor="t" rtlCol="false" tIns="0" lIns="0" bIns="0" rIns="0">
            <a:spAutoFit/>
          </a:bodyPr>
          <a:lstStyle/>
          <a:p>
            <a:pPr algn="l">
              <a:lnSpc>
                <a:spcPts val="2059"/>
              </a:lnSpc>
            </a:pPr>
            <a:r>
              <a:rPr lang="en-US" sz="2200">
                <a:solidFill>
                  <a:srgbClr val="333F70"/>
                </a:solidFill>
                <a:latin typeface="Open Sans"/>
                <a:ea typeface="Open Sans"/>
                <a:cs typeface="Open Sans"/>
                <a:sym typeface="Open Sans"/>
              </a:rPr>
              <a:t>GPIO — trigger/echo distance sensing</a:t>
            </a:r>
          </a:p>
        </p:txBody>
      </p:sp>
      <p:sp>
        <p:nvSpPr>
          <p:cNvPr name="TextBox 16" id="16"/>
          <p:cNvSpPr txBox="true"/>
          <p:nvPr/>
        </p:nvSpPr>
        <p:spPr>
          <a:xfrm rot="0">
            <a:off x="1378096" y="7232990"/>
            <a:ext cx="3524745" cy="481241"/>
          </a:xfrm>
          <a:prstGeom prst="rect">
            <a:avLst/>
          </a:prstGeom>
        </p:spPr>
        <p:txBody>
          <a:bodyPr anchor="t" rtlCol="false" tIns="0" lIns="0" bIns="0" rIns="0">
            <a:spAutoFit/>
          </a:bodyPr>
          <a:lstStyle/>
          <a:p>
            <a:pPr algn="l">
              <a:lnSpc>
                <a:spcPts val="3494"/>
              </a:lnSpc>
            </a:pPr>
            <a:r>
              <a:rPr lang="en-US" sz="2799" b="true">
                <a:solidFill>
                  <a:srgbClr val="333F70"/>
                </a:solidFill>
                <a:latin typeface="Arimo Bold"/>
                <a:ea typeface="Arimo Bold"/>
                <a:cs typeface="Arimo Bold"/>
                <a:sym typeface="Arimo Bold"/>
              </a:rPr>
              <a:t>MPU6050 IMU</a:t>
            </a:r>
          </a:p>
        </p:txBody>
      </p:sp>
      <p:sp>
        <p:nvSpPr>
          <p:cNvPr name="TextBox 17" id="17"/>
          <p:cNvSpPr txBox="true"/>
          <p:nvPr/>
        </p:nvSpPr>
        <p:spPr>
          <a:xfrm rot="0">
            <a:off x="1378096" y="7900140"/>
            <a:ext cx="3524745" cy="486051"/>
          </a:xfrm>
          <a:prstGeom prst="rect">
            <a:avLst/>
          </a:prstGeom>
        </p:spPr>
        <p:txBody>
          <a:bodyPr anchor="t" rtlCol="false" tIns="0" lIns="0" bIns="0" rIns="0">
            <a:spAutoFit/>
          </a:bodyPr>
          <a:lstStyle/>
          <a:p>
            <a:pPr algn="l">
              <a:lnSpc>
                <a:spcPts val="2059"/>
              </a:lnSpc>
            </a:pPr>
            <a:r>
              <a:rPr lang="en-US" sz="2200">
                <a:solidFill>
                  <a:srgbClr val="333F70"/>
                </a:solidFill>
                <a:latin typeface="Open Sans"/>
                <a:ea typeface="Open Sans"/>
                <a:cs typeface="Open Sans"/>
                <a:sym typeface="Open Sans"/>
              </a:rPr>
              <a:t>I2C — accelerometer &amp; gyro data</a:t>
            </a:r>
          </a:p>
        </p:txBody>
      </p:sp>
      <p:sp>
        <p:nvSpPr>
          <p:cNvPr name="TextBox 18" id="18"/>
          <p:cNvSpPr txBox="true"/>
          <p:nvPr/>
        </p:nvSpPr>
        <p:spPr>
          <a:xfrm rot="0">
            <a:off x="13384778" y="7232990"/>
            <a:ext cx="3524755" cy="481241"/>
          </a:xfrm>
          <a:prstGeom prst="rect">
            <a:avLst/>
          </a:prstGeom>
        </p:spPr>
        <p:txBody>
          <a:bodyPr anchor="t" rtlCol="false" tIns="0" lIns="0" bIns="0" rIns="0">
            <a:spAutoFit/>
          </a:bodyPr>
          <a:lstStyle/>
          <a:p>
            <a:pPr algn="l">
              <a:lnSpc>
                <a:spcPts val="3494"/>
              </a:lnSpc>
            </a:pPr>
            <a:r>
              <a:rPr lang="en-US" sz="2799" b="true">
                <a:solidFill>
                  <a:srgbClr val="333F70"/>
                </a:solidFill>
                <a:latin typeface="Arimo Bold"/>
                <a:ea typeface="Arimo Bold"/>
                <a:cs typeface="Arimo Bold"/>
                <a:sym typeface="Arimo Bold"/>
              </a:rPr>
              <a:t>Neo-6M GPS</a:t>
            </a:r>
          </a:p>
        </p:txBody>
      </p:sp>
      <p:sp>
        <p:nvSpPr>
          <p:cNvPr name="TextBox 19" id="19"/>
          <p:cNvSpPr txBox="true"/>
          <p:nvPr/>
        </p:nvSpPr>
        <p:spPr>
          <a:xfrm rot="0">
            <a:off x="13384778" y="7900140"/>
            <a:ext cx="3524755" cy="530962"/>
          </a:xfrm>
          <a:prstGeom prst="rect">
            <a:avLst/>
          </a:prstGeom>
        </p:spPr>
        <p:txBody>
          <a:bodyPr anchor="t" rtlCol="false" tIns="0" lIns="0" bIns="0" rIns="0">
            <a:spAutoFit/>
          </a:bodyPr>
          <a:lstStyle/>
          <a:p>
            <a:pPr algn="l">
              <a:lnSpc>
                <a:spcPts val="2059"/>
              </a:lnSpc>
            </a:pPr>
            <a:r>
              <a:rPr lang="en-US" sz="2200">
                <a:solidFill>
                  <a:srgbClr val="333F70"/>
                </a:solidFill>
                <a:latin typeface="Open Sans"/>
                <a:ea typeface="Open Sans"/>
                <a:cs typeface="Open Sans"/>
                <a:sym typeface="Open Sans"/>
              </a:rPr>
              <a:t>UART — NMEA position, time &amp; speed</a:t>
            </a:r>
          </a:p>
        </p:txBody>
      </p:sp>
      <p:sp>
        <p:nvSpPr>
          <p:cNvPr name="TextBox 20" id="20"/>
          <p:cNvSpPr txBox="true"/>
          <p:nvPr/>
        </p:nvSpPr>
        <p:spPr>
          <a:xfrm rot="0">
            <a:off x="992238" y="10283276"/>
            <a:ext cx="17217923" cy="148676"/>
          </a:xfrm>
          <a:prstGeom prst="rect">
            <a:avLst/>
          </a:prstGeom>
        </p:spPr>
        <p:txBody>
          <a:bodyPr anchor="t" rtlCol="false" tIns="0" lIns="0" bIns="0" rIns="0">
            <a:spAutoFit/>
          </a:bodyPr>
          <a:lstStyle/>
          <a:p>
            <a:pPr algn="l">
              <a:lnSpc>
                <a:spcPts val="1080"/>
              </a:lnSpc>
            </a:pPr>
            <a:r>
              <a:rPr lang="en-US" sz="900">
                <a:solidFill>
                  <a:srgbClr val="333F70"/>
                </a:solidFill>
                <a:latin typeface="Open Sans"/>
                <a:ea typeface="Open Sans"/>
                <a:cs typeface="Open Sans"/>
                <a:sym typeface="Open Sans"/>
              </a:rPr>
              <a:t>The architecture leverages hardware interrupts for time-critical sensor reads, enabling deterministic response to collision events and drowsiness conditions without polling latency.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6F5E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992238" y="2191045"/>
            <a:ext cx="2264416" cy="1399432"/>
            <a:chOff x="0" y="0"/>
            <a:chExt cx="3019222" cy="1865909"/>
          </a:xfrm>
        </p:grpSpPr>
        <p:sp>
          <p:nvSpPr>
            <p:cNvPr name="Freeform 7" id="7" descr="preencoded.png"/>
            <p:cNvSpPr/>
            <p:nvPr/>
          </p:nvSpPr>
          <p:spPr>
            <a:xfrm flipH="false" flipV="false" rot="0">
              <a:off x="0" y="0"/>
              <a:ext cx="3019171" cy="1865884"/>
            </a:xfrm>
            <a:custGeom>
              <a:avLst/>
              <a:gdLst/>
              <a:ahLst/>
              <a:cxnLst/>
              <a:rect r="r" b="b" t="t" l="l"/>
              <a:pathLst>
                <a:path h="1865884" w="3019171">
                  <a:moveTo>
                    <a:pt x="0" y="0"/>
                  </a:moveTo>
                  <a:lnTo>
                    <a:pt x="3019171" y="0"/>
                  </a:lnTo>
                  <a:lnTo>
                    <a:pt x="3019171" y="1865884"/>
                  </a:lnTo>
                  <a:lnTo>
                    <a:pt x="0" y="1865884"/>
                  </a:lnTo>
                  <a:lnTo>
                    <a:pt x="0" y="0"/>
                  </a:lnTo>
                  <a:close/>
                </a:path>
              </a:pathLst>
            </a:custGeom>
            <a:blipFill>
              <a:blip r:embed="rId3"/>
              <a:stretch>
                <a:fillRect l="-29" t="0" r="-31" b="-1"/>
              </a:stretch>
            </a:blipFill>
          </p:spPr>
        </p:sp>
      </p:grpSp>
      <p:grpSp>
        <p:nvGrpSpPr>
          <p:cNvPr name="Group 8" id="8"/>
          <p:cNvGrpSpPr/>
          <p:nvPr/>
        </p:nvGrpSpPr>
        <p:grpSpPr>
          <a:xfrm rot="0">
            <a:off x="5125345" y="2191045"/>
            <a:ext cx="2264416" cy="1399432"/>
            <a:chOff x="0" y="0"/>
            <a:chExt cx="3019222" cy="1865909"/>
          </a:xfrm>
        </p:grpSpPr>
        <p:sp>
          <p:nvSpPr>
            <p:cNvPr name="Freeform 9" id="9" descr="preencoded.png"/>
            <p:cNvSpPr/>
            <p:nvPr/>
          </p:nvSpPr>
          <p:spPr>
            <a:xfrm flipH="false" flipV="false" rot="0">
              <a:off x="0" y="0"/>
              <a:ext cx="3019171" cy="1865884"/>
            </a:xfrm>
            <a:custGeom>
              <a:avLst/>
              <a:gdLst/>
              <a:ahLst/>
              <a:cxnLst/>
              <a:rect r="r" b="b" t="t" l="l"/>
              <a:pathLst>
                <a:path h="1865884" w="3019171">
                  <a:moveTo>
                    <a:pt x="0" y="0"/>
                  </a:moveTo>
                  <a:lnTo>
                    <a:pt x="3019171" y="0"/>
                  </a:lnTo>
                  <a:lnTo>
                    <a:pt x="3019171" y="1865884"/>
                  </a:lnTo>
                  <a:lnTo>
                    <a:pt x="0" y="1865884"/>
                  </a:lnTo>
                  <a:lnTo>
                    <a:pt x="0" y="0"/>
                  </a:lnTo>
                  <a:close/>
                </a:path>
              </a:pathLst>
            </a:custGeom>
            <a:blipFill>
              <a:blip r:embed="rId4"/>
              <a:stretch>
                <a:fillRect l="-29" t="0" r="-31" b="-1"/>
              </a:stretch>
            </a:blipFill>
          </p:spPr>
        </p:sp>
      </p:grpSp>
      <p:grpSp>
        <p:nvGrpSpPr>
          <p:cNvPr name="Group 10" id="10"/>
          <p:cNvGrpSpPr/>
          <p:nvPr/>
        </p:nvGrpSpPr>
        <p:grpSpPr>
          <a:xfrm rot="0">
            <a:off x="9258452" y="2191045"/>
            <a:ext cx="2264416" cy="1399432"/>
            <a:chOff x="0" y="0"/>
            <a:chExt cx="3019222" cy="1865909"/>
          </a:xfrm>
        </p:grpSpPr>
        <p:sp>
          <p:nvSpPr>
            <p:cNvPr name="Freeform 11" id="11"/>
            <p:cNvSpPr/>
            <p:nvPr/>
          </p:nvSpPr>
          <p:spPr>
            <a:xfrm flipH="false" flipV="false" rot="0">
              <a:off x="0" y="0"/>
              <a:ext cx="3019171" cy="1865884"/>
            </a:xfrm>
            <a:custGeom>
              <a:avLst/>
              <a:gdLst/>
              <a:ahLst/>
              <a:cxnLst/>
              <a:rect r="r" b="b" t="t" l="l"/>
              <a:pathLst>
                <a:path h="1865884" w="3019171">
                  <a:moveTo>
                    <a:pt x="0" y="0"/>
                  </a:moveTo>
                  <a:lnTo>
                    <a:pt x="3019171" y="0"/>
                  </a:lnTo>
                  <a:lnTo>
                    <a:pt x="3019171" y="1865884"/>
                  </a:lnTo>
                  <a:lnTo>
                    <a:pt x="0" y="1865884"/>
                  </a:lnTo>
                  <a:lnTo>
                    <a:pt x="0" y="0"/>
                  </a:lnTo>
                  <a:close/>
                </a:path>
              </a:pathLst>
            </a:custGeom>
            <a:blipFill>
              <a:blip r:embed="rId5"/>
              <a:stretch>
                <a:fillRect l="0" t="-19247" r="0" b="-19247"/>
              </a:stretch>
            </a:blipFill>
          </p:spPr>
        </p:sp>
      </p:grpSp>
      <p:grpSp>
        <p:nvGrpSpPr>
          <p:cNvPr name="Group 12" id="12"/>
          <p:cNvGrpSpPr/>
          <p:nvPr/>
        </p:nvGrpSpPr>
        <p:grpSpPr>
          <a:xfrm rot="0">
            <a:off x="13391550" y="2191045"/>
            <a:ext cx="2264416" cy="1399432"/>
            <a:chOff x="0" y="0"/>
            <a:chExt cx="3019222" cy="1865909"/>
          </a:xfrm>
        </p:grpSpPr>
        <p:sp>
          <p:nvSpPr>
            <p:cNvPr name="Freeform 13" id="13"/>
            <p:cNvSpPr/>
            <p:nvPr/>
          </p:nvSpPr>
          <p:spPr>
            <a:xfrm flipH="false" flipV="false" rot="0">
              <a:off x="0" y="0"/>
              <a:ext cx="3019171" cy="1865884"/>
            </a:xfrm>
            <a:custGeom>
              <a:avLst/>
              <a:gdLst/>
              <a:ahLst/>
              <a:cxnLst/>
              <a:rect r="r" b="b" t="t" l="l"/>
              <a:pathLst>
                <a:path h="1865884" w="3019171">
                  <a:moveTo>
                    <a:pt x="0" y="0"/>
                  </a:moveTo>
                  <a:lnTo>
                    <a:pt x="3019171" y="0"/>
                  </a:lnTo>
                  <a:lnTo>
                    <a:pt x="3019171" y="1865884"/>
                  </a:lnTo>
                  <a:lnTo>
                    <a:pt x="0" y="1865884"/>
                  </a:lnTo>
                  <a:lnTo>
                    <a:pt x="0" y="0"/>
                  </a:lnTo>
                  <a:close/>
                </a:path>
              </a:pathLst>
            </a:custGeom>
            <a:blipFill>
              <a:blip r:embed="rId6"/>
              <a:stretch>
                <a:fillRect l="0" t="-36432" r="0" b="0"/>
              </a:stretch>
            </a:blipFill>
          </p:spPr>
        </p:sp>
      </p:grpSp>
      <p:grpSp>
        <p:nvGrpSpPr>
          <p:cNvPr name="Group 14" id="14"/>
          <p:cNvGrpSpPr/>
          <p:nvPr/>
        </p:nvGrpSpPr>
        <p:grpSpPr>
          <a:xfrm rot="0">
            <a:off x="992238" y="5580164"/>
            <a:ext cx="2264416" cy="1399432"/>
            <a:chOff x="0" y="0"/>
            <a:chExt cx="3019222" cy="1865909"/>
          </a:xfrm>
        </p:grpSpPr>
        <p:sp>
          <p:nvSpPr>
            <p:cNvPr name="Freeform 15" id="15"/>
            <p:cNvSpPr/>
            <p:nvPr/>
          </p:nvSpPr>
          <p:spPr>
            <a:xfrm flipH="false" flipV="false" rot="0">
              <a:off x="0" y="0"/>
              <a:ext cx="3019171" cy="1865884"/>
            </a:xfrm>
            <a:custGeom>
              <a:avLst/>
              <a:gdLst/>
              <a:ahLst/>
              <a:cxnLst/>
              <a:rect r="r" b="b" t="t" l="l"/>
              <a:pathLst>
                <a:path h="1865884" w="3019171">
                  <a:moveTo>
                    <a:pt x="0" y="0"/>
                  </a:moveTo>
                  <a:lnTo>
                    <a:pt x="3019171" y="0"/>
                  </a:lnTo>
                  <a:lnTo>
                    <a:pt x="3019171" y="1865884"/>
                  </a:lnTo>
                  <a:lnTo>
                    <a:pt x="0" y="1865884"/>
                  </a:lnTo>
                  <a:lnTo>
                    <a:pt x="0" y="0"/>
                  </a:lnTo>
                  <a:close/>
                </a:path>
              </a:pathLst>
            </a:custGeom>
            <a:blipFill>
              <a:blip r:embed="rId7"/>
              <a:stretch>
                <a:fillRect l="0" t="0" r="0" b="-61809"/>
              </a:stretch>
            </a:blipFill>
          </p:spPr>
        </p:sp>
      </p:grpSp>
      <p:grpSp>
        <p:nvGrpSpPr>
          <p:cNvPr name="Group 16" id="16"/>
          <p:cNvGrpSpPr/>
          <p:nvPr/>
        </p:nvGrpSpPr>
        <p:grpSpPr>
          <a:xfrm rot="0">
            <a:off x="5125345" y="5580164"/>
            <a:ext cx="2264416" cy="1399432"/>
            <a:chOff x="0" y="0"/>
            <a:chExt cx="3019222" cy="1865909"/>
          </a:xfrm>
        </p:grpSpPr>
        <p:sp>
          <p:nvSpPr>
            <p:cNvPr name="Freeform 17" id="17"/>
            <p:cNvSpPr/>
            <p:nvPr/>
          </p:nvSpPr>
          <p:spPr>
            <a:xfrm flipH="false" flipV="false" rot="0">
              <a:off x="0" y="0"/>
              <a:ext cx="3019171" cy="1865884"/>
            </a:xfrm>
            <a:custGeom>
              <a:avLst/>
              <a:gdLst/>
              <a:ahLst/>
              <a:cxnLst/>
              <a:rect r="r" b="b" t="t" l="l"/>
              <a:pathLst>
                <a:path h="1865884" w="3019171">
                  <a:moveTo>
                    <a:pt x="0" y="0"/>
                  </a:moveTo>
                  <a:lnTo>
                    <a:pt x="3019171" y="0"/>
                  </a:lnTo>
                  <a:lnTo>
                    <a:pt x="3019171" y="1865884"/>
                  </a:lnTo>
                  <a:lnTo>
                    <a:pt x="0" y="1865884"/>
                  </a:lnTo>
                  <a:lnTo>
                    <a:pt x="0" y="0"/>
                  </a:lnTo>
                  <a:close/>
                </a:path>
              </a:pathLst>
            </a:custGeom>
            <a:blipFill>
              <a:blip r:embed="rId8"/>
              <a:stretch>
                <a:fillRect l="0" t="-30904" r="0" b="-30904"/>
              </a:stretch>
            </a:blipFill>
          </p:spPr>
        </p:sp>
      </p:grpSp>
      <p:sp>
        <p:nvSpPr>
          <p:cNvPr name="TextBox 18" id="18"/>
          <p:cNvSpPr txBox="true"/>
          <p:nvPr/>
        </p:nvSpPr>
        <p:spPr>
          <a:xfrm rot="0">
            <a:off x="992238" y="834333"/>
            <a:ext cx="5647877" cy="342605"/>
          </a:xfrm>
          <a:prstGeom prst="rect">
            <a:avLst/>
          </a:prstGeom>
        </p:spPr>
        <p:txBody>
          <a:bodyPr anchor="t" rtlCol="false" tIns="0" lIns="0" bIns="0" rIns="0">
            <a:spAutoFit/>
          </a:bodyPr>
          <a:lstStyle/>
          <a:p>
            <a:pPr algn="l">
              <a:lnSpc>
                <a:spcPts val="2496"/>
              </a:lnSpc>
            </a:pPr>
            <a:r>
              <a:rPr lang="en-US" sz="2000" b="true">
                <a:solidFill>
                  <a:srgbClr val="333F70"/>
                </a:solidFill>
                <a:latin typeface="Arimo Bold"/>
                <a:ea typeface="Arimo Bold"/>
                <a:cs typeface="Arimo Bold"/>
                <a:sym typeface="Arimo Bold"/>
              </a:rPr>
              <a:t>Hardware &amp; Software Stack</a:t>
            </a:r>
          </a:p>
        </p:txBody>
      </p:sp>
      <p:sp>
        <p:nvSpPr>
          <p:cNvPr name="TextBox 19" id="19"/>
          <p:cNvSpPr txBox="true"/>
          <p:nvPr/>
        </p:nvSpPr>
        <p:spPr>
          <a:xfrm rot="0">
            <a:off x="992238" y="1212056"/>
            <a:ext cx="12344695" cy="704250"/>
          </a:xfrm>
          <a:prstGeom prst="rect">
            <a:avLst/>
          </a:prstGeom>
        </p:spPr>
        <p:txBody>
          <a:bodyPr anchor="t" rtlCol="false" tIns="0" lIns="0" bIns="0" rIns="0">
            <a:spAutoFit/>
          </a:bodyPr>
          <a:lstStyle/>
          <a:p>
            <a:pPr algn="l">
              <a:lnSpc>
                <a:spcPts val="5116"/>
              </a:lnSpc>
            </a:pPr>
            <a:r>
              <a:rPr lang="en-US" sz="4100" b="true">
                <a:solidFill>
                  <a:srgbClr val="333F70"/>
                </a:solidFill>
                <a:latin typeface="Arimo Bold"/>
                <a:ea typeface="Arimo Bold"/>
                <a:cs typeface="Arimo Bold"/>
                <a:sym typeface="Arimo Bold"/>
              </a:rPr>
              <a:t>Components &amp; Development Tools</a:t>
            </a:r>
          </a:p>
        </p:txBody>
      </p:sp>
      <p:sp>
        <p:nvSpPr>
          <p:cNvPr name="TextBox 20" id="20"/>
          <p:cNvSpPr txBox="true"/>
          <p:nvPr/>
        </p:nvSpPr>
        <p:spPr>
          <a:xfrm rot="0">
            <a:off x="992238" y="3809848"/>
            <a:ext cx="3860454" cy="342605"/>
          </a:xfrm>
          <a:prstGeom prst="rect">
            <a:avLst/>
          </a:prstGeom>
        </p:spPr>
        <p:txBody>
          <a:bodyPr anchor="t" rtlCol="false" tIns="0" lIns="0" bIns="0" rIns="0">
            <a:spAutoFit/>
          </a:bodyPr>
          <a:lstStyle/>
          <a:p>
            <a:pPr algn="l">
              <a:lnSpc>
                <a:spcPts val="2496"/>
              </a:lnSpc>
            </a:pPr>
            <a:r>
              <a:rPr lang="en-US" sz="2000" b="true">
                <a:solidFill>
                  <a:srgbClr val="333F70"/>
                </a:solidFill>
                <a:latin typeface="Arimo Bold"/>
                <a:ea typeface="Arimo Bold"/>
                <a:cs typeface="Arimo Bold"/>
                <a:sym typeface="Arimo Bold"/>
              </a:rPr>
              <a:t>STM32 Nucleo-F446RE</a:t>
            </a:r>
          </a:p>
        </p:txBody>
      </p:sp>
      <p:sp>
        <p:nvSpPr>
          <p:cNvPr name="TextBox 21" id="21"/>
          <p:cNvSpPr txBox="true"/>
          <p:nvPr/>
        </p:nvSpPr>
        <p:spPr>
          <a:xfrm rot="0">
            <a:off x="992238" y="4224185"/>
            <a:ext cx="3904212" cy="989562"/>
          </a:xfrm>
          <a:prstGeom prst="rect">
            <a:avLst/>
          </a:prstGeom>
        </p:spPr>
        <p:txBody>
          <a:bodyPr anchor="t" rtlCol="false" tIns="0" lIns="0" bIns="0" rIns="0">
            <a:spAutoFit/>
          </a:bodyPr>
          <a:lstStyle/>
          <a:p>
            <a:pPr algn="l">
              <a:lnSpc>
                <a:spcPts val="2380"/>
              </a:lnSpc>
            </a:pPr>
            <a:r>
              <a:rPr lang="en-US" sz="1600">
                <a:solidFill>
                  <a:srgbClr val="333F70"/>
                </a:solidFill>
                <a:latin typeface="Open Sans"/>
                <a:ea typeface="Open Sans"/>
                <a:cs typeface="Open Sans"/>
                <a:sym typeface="Open Sans"/>
              </a:rPr>
              <a:t>180 MHz ARM Cortex-M4F core, the central MCU running all real-time processing and alert logic</a:t>
            </a:r>
          </a:p>
        </p:txBody>
      </p:sp>
      <p:sp>
        <p:nvSpPr>
          <p:cNvPr name="TextBox 22" id="22"/>
          <p:cNvSpPr txBox="true"/>
          <p:nvPr/>
        </p:nvSpPr>
        <p:spPr>
          <a:xfrm rot="0">
            <a:off x="5125345" y="3809848"/>
            <a:ext cx="3337027" cy="342605"/>
          </a:xfrm>
          <a:prstGeom prst="rect">
            <a:avLst/>
          </a:prstGeom>
        </p:spPr>
        <p:txBody>
          <a:bodyPr anchor="t" rtlCol="false" tIns="0" lIns="0" bIns="0" rIns="0">
            <a:spAutoFit/>
          </a:bodyPr>
          <a:lstStyle/>
          <a:p>
            <a:pPr algn="l">
              <a:lnSpc>
                <a:spcPts val="2496"/>
              </a:lnSpc>
            </a:pPr>
            <a:r>
              <a:rPr lang="en-US" sz="2000" b="true">
                <a:solidFill>
                  <a:srgbClr val="333F70"/>
                </a:solidFill>
                <a:latin typeface="Arimo Bold"/>
                <a:ea typeface="Arimo Bold"/>
                <a:cs typeface="Arimo Bold"/>
                <a:sym typeface="Arimo Bold"/>
              </a:rPr>
              <a:t>HC-SR04 Ultrasonic</a:t>
            </a:r>
          </a:p>
        </p:txBody>
      </p:sp>
      <p:sp>
        <p:nvSpPr>
          <p:cNvPr name="TextBox 23" id="23"/>
          <p:cNvSpPr txBox="true"/>
          <p:nvPr/>
        </p:nvSpPr>
        <p:spPr>
          <a:xfrm rot="0">
            <a:off x="5125345" y="4224185"/>
            <a:ext cx="3904212" cy="989562"/>
          </a:xfrm>
          <a:prstGeom prst="rect">
            <a:avLst/>
          </a:prstGeom>
        </p:spPr>
        <p:txBody>
          <a:bodyPr anchor="t" rtlCol="false" tIns="0" lIns="0" bIns="0" rIns="0">
            <a:spAutoFit/>
          </a:bodyPr>
          <a:lstStyle/>
          <a:p>
            <a:pPr algn="l">
              <a:lnSpc>
                <a:spcPts val="2380"/>
              </a:lnSpc>
            </a:pPr>
            <a:r>
              <a:rPr lang="en-US" sz="1600">
                <a:solidFill>
                  <a:srgbClr val="333F70"/>
                </a:solidFill>
                <a:latin typeface="Open Sans"/>
                <a:ea typeface="Open Sans"/>
                <a:cs typeface="Open Sans"/>
                <a:sym typeface="Open Sans"/>
              </a:rPr>
              <a:t>2 cm – 400 cm range, GPIO-triggered with timer-based echo measurement for obstacle distance</a:t>
            </a:r>
          </a:p>
        </p:txBody>
      </p:sp>
      <p:sp>
        <p:nvSpPr>
          <p:cNvPr name="TextBox 24" id="24"/>
          <p:cNvSpPr txBox="true"/>
          <p:nvPr/>
        </p:nvSpPr>
        <p:spPr>
          <a:xfrm rot="0">
            <a:off x="9258452" y="3809848"/>
            <a:ext cx="2664914" cy="342605"/>
          </a:xfrm>
          <a:prstGeom prst="rect">
            <a:avLst/>
          </a:prstGeom>
        </p:spPr>
        <p:txBody>
          <a:bodyPr anchor="t" rtlCol="false" tIns="0" lIns="0" bIns="0" rIns="0">
            <a:spAutoFit/>
          </a:bodyPr>
          <a:lstStyle/>
          <a:p>
            <a:pPr algn="l">
              <a:lnSpc>
                <a:spcPts val="2496"/>
              </a:lnSpc>
            </a:pPr>
            <a:r>
              <a:rPr lang="en-US" sz="2000" b="true">
                <a:solidFill>
                  <a:srgbClr val="333F70"/>
                </a:solidFill>
                <a:latin typeface="Arimo Bold"/>
                <a:ea typeface="Arimo Bold"/>
                <a:cs typeface="Arimo Bold"/>
                <a:sym typeface="Arimo Bold"/>
              </a:rPr>
              <a:t>MPU6050 IMU</a:t>
            </a:r>
          </a:p>
        </p:txBody>
      </p:sp>
      <p:sp>
        <p:nvSpPr>
          <p:cNvPr name="TextBox 25" id="25"/>
          <p:cNvSpPr txBox="true"/>
          <p:nvPr/>
        </p:nvSpPr>
        <p:spPr>
          <a:xfrm rot="0">
            <a:off x="9258452" y="4224185"/>
            <a:ext cx="3904212" cy="989562"/>
          </a:xfrm>
          <a:prstGeom prst="rect">
            <a:avLst/>
          </a:prstGeom>
        </p:spPr>
        <p:txBody>
          <a:bodyPr anchor="t" rtlCol="false" tIns="0" lIns="0" bIns="0" rIns="0">
            <a:spAutoFit/>
          </a:bodyPr>
          <a:lstStyle/>
          <a:p>
            <a:pPr algn="l">
              <a:lnSpc>
                <a:spcPts val="2380"/>
              </a:lnSpc>
            </a:pPr>
            <a:r>
              <a:rPr lang="en-US" sz="1600">
                <a:solidFill>
                  <a:srgbClr val="333F70"/>
                </a:solidFill>
                <a:latin typeface="Open Sans"/>
                <a:ea typeface="Open Sans"/>
                <a:cs typeface="Open Sans"/>
                <a:sym typeface="Open Sans"/>
              </a:rPr>
              <a:t>6-axis accelerometer + gyroscope via I²C for harsh braking, acceleration, and turning detection</a:t>
            </a:r>
          </a:p>
        </p:txBody>
      </p:sp>
      <p:sp>
        <p:nvSpPr>
          <p:cNvPr name="TextBox 26" id="26"/>
          <p:cNvSpPr txBox="true"/>
          <p:nvPr/>
        </p:nvSpPr>
        <p:spPr>
          <a:xfrm rot="0">
            <a:off x="13391550" y="3809848"/>
            <a:ext cx="2664914" cy="342605"/>
          </a:xfrm>
          <a:prstGeom prst="rect">
            <a:avLst/>
          </a:prstGeom>
        </p:spPr>
        <p:txBody>
          <a:bodyPr anchor="t" rtlCol="false" tIns="0" lIns="0" bIns="0" rIns="0">
            <a:spAutoFit/>
          </a:bodyPr>
          <a:lstStyle/>
          <a:p>
            <a:pPr algn="l">
              <a:lnSpc>
                <a:spcPts val="2496"/>
              </a:lnSpc>
            </a:pPr>
            <a:r>
              <a:rPr lang="en-US" sz="2000" b="true">
                <a:solidFill>
                  <a:srgbClr val="333F70"/>
                </a:solidFill>
                <a:latin typeface="Arimo Bold"/>
                <a:ea typeface="Arimo Bold"/>
                <a:cs typeface="Arimo Bold"/>
                <a:sym typeface="Arimo Bold"/>
              </a:rPr>
              <a:t>Neo-6M GPS</a:t>
            </a:r>
          </a:p>
        </p:txBody>
      </p:sp>
      <p:sp>
        <p:nvSpPr>
          <p:cNvPr name="TextBox 27" id="27"/>
          <p:cNvSpPr txBox="true"/>
          <p:nvPr/>
        </p:nvSpPr>
        <p:spPr>
          <a:xfrm rot="0">
            <a:off x="13391550" y="4224185"/>
            <a:ext cx="3904212" cy="989562"/>
          </a:xfrm>
          <a:prstGeom prst="rect">
            <a:avLst/>
          </a:prstGeom>
        </p:spPr>
        <p:txBody>
          <a:bodyPr anchor="t" rtlCol="false" tIns="0" lIns="0" bIns="0" rIns="0">
            <a:spAutoFit/>
          </a:bodyPr>
          <a:lstStyle/>
          <a:p>
            <a:pPr algn="l">
              <a:lnSpc>
                <a:spcPts val="2380"/>
              </a:lnSpc>
            </a:pPr>
            <a:r>
              <a:rPr lang="en-US" sz="1600">
                <a:solidFill>
                  <a:srgbClr val="333F70"/>
                </a:solidFill>
                <a:latin typeface="Open Sans"/>
                <a:ea typeface="Open Sans"/>
                <a:cs typeface="Open Sans"/>
                <a:sym typeface="Open Sans"/>
              </a:rPr>
              <a:t>UART-based NMEA parsing for real-time speed monitoring and overspeed threshold enforcement</a:t>
            </a:r>
          </a:p>
        </p:txBody>
      </p:sp>
      <p:sp>
        <p:nvSpPr>
          <p:cNvPr name="TextBox 28" id="28"/>
          <p:cNvSpPr txBox="true"/>
          <p:nvPr/>
        </p:nvSpPr>
        <p:spPr>
          <a:xfrm rot="0">
            <a:off x="992238" y="7198966"/>
            <a:ext cx="3113189" cy="342605"/>
          </a:xfrm>
          <a:prstGeom prst="rect">
            <a:avLst/>
          </a:prstGeom>
        </p:spPr>
        <p:txBody>
          <a:bodyPr anchor="t" rtlCol="false" tIns="0" lIns="0" bIns="0" rIns="0">
            <a:spAutoFit/>
          </a:bodyPr>
          <a:lstStyle/>
          <a:p>
            <a:pPr algn="l">
              <a:lnSpc>
                <a:spcPts val="2496"/>
              </a:lnSpc>
            </a:pPr>
            <a:r>
              <a:rPr lang="en-US" sz="2000" b="true">
                <a:solidFill>
                  <a:srgbClr val="333F70"/>
                </a:solidFill>
                <a:latin typeface="Arimo Bold"/>
                <a:ea typeface="Arimo Bold"/>
                <a:cs typeface="Arimo Bold"/>
                <a:sym typeface="Arimo Bold"/>
              </a:rPr>
              <a:t>IR Eye Blink Sensor</a:t>
            </a:r>
          </a:p>
        </p:txBody>
      </p:sp>
      <p:sp>
        <p:nvSpPr>
          <p:cNvPr name="TextBox 29" id="29"/>
          <p:cNvSpPr txBox="true"/>
          <p:nvPr/>
        </p:nvSpPr>
        <p:spPr>
          <a:xfrm rot="0">
            <a:off x="992238" y="7613304"/>
            <a:ext cx="3904212" cy="989562"/>
          </a:xfrm>
          <a:prstGeom prst="rect">
            <a:avLst/>
          </a:prstGeom>
        </p:spPr>
        <p:txBody>
          <a:bodyPr anchor="t" rtlCol="false" tIns="0" lIns="0" bIns="0" rIns="0">
            <a:spAutoFit/>
          </a:bodyPr>
          <a:lstStyle/>
          <a:p>
            <a:pPr algn="l">
              <a:lnSpc>
                <a:spcPts val="2380"/>
              </a:lnSpc>
            </a:pPr>
            <a:r>
              <a:rPr lang="en-US" sz="1600">
                <a:solidFill>
                  <a:srgbClr val="333F70"/>
                </a:solidFill>
                <a:latin typeface="Open Sans"/>
                <a:ea typeface="Open Sans"/>
                <a:cs typeface="Open Sans"/>
                <a:sym typeface="Open Sans"/>
              </a:rPr>
              <a:t>GPIO-based digital input for drowsiness detection with interrupt-driven 5-second timeout counter</a:t>
            </a:r>
          </a:p>
        </p:txBody>
      </p:sp>
      <p:sp>
        <p:nvSpPr>
          <p:cNvPr name="TextBox 30" id="30"/>
          <p:cNvSpPr txBox="true"/>
          <p:nvPr/>
        </p:nvSpPr>
        <p:spPr>
          <a:xfrm rot="0">
            <a:off x="5125345" y="7198966"/>
            <a:ext cx="3606851" cy="342605"/>
          </a:xfrm>
          <a:prstGeom prst="rect">
            <a:avLst/>
          </a:prstGeom>
        </p:spPr>
        <p:txBody>
          <a:bodyPr anchor="t" rtlCol="false" tIns="0" lIns="0" bIns="0" rIns="0">
            <a:spAutoFit/>
          </a:bodyPr>
          <a:lstStyle/>
          <a:p>
            <a:pPr algn="l">
              <a:lnSpc>
                <a:spcPts val="2496"/>
              </a:lnSpc>
            </a:pPr>
            <a:r>
              <a:rPr lang="en-US" sz="2000" b="true">
                <a:solidFill>
                  <a:srgbClr val="333F70"/>
                </a:solidFill>
                <a:latin typeface="Arimo Bold"/>
                <a:ea typeface="Arimo Bold"/>
                <a:cs typeface="Arimo Bold"/>
                <a:sym typeface="Arimo Bold"/>
              </a:rPr>
              <a:t>Buzzer &amp; Status LEDs</a:t>
            </a:r>
          </a:p>
        </p:txBody>
      </p:sp>
      <p:sp>
        <p:nvSpPr>
          <p:cNvPr name="TextBox 31" id="31"/>
          <p:cNvSpPr txBox="true"/>
          <p:nvPr/>
        </p:nvSpPr>
        <p:spPr>
          <a:xfrm rot="0">
            <a:off x="5125345" y="7613304"/>
            <a:ext cx="3904212" cy="989562"/>
          </a:xfrm>
          <a:prstGeom prst="rect">
            <a:avLst/>
          </a:prstGeom>
        </p:spPr>
        <p:txBody>
          <a:bodyPr anchor="t" rtlCol="false" tIns="0" lIns="0" bIns="0" rIns="0">
            <a:spAutoFit/>
          </a:bodyPr>
          <a:lstStyle/>
          <a:p>
            <a:pPr algn="l">
              <a:lnSpc>
                <a:spcPts val="2380"/>
              </a:lnSpc>
            </a:pPr>
            <a:r>
              <a:rPr lang="en-US" sz="1600">
                <a:solidFill>
                  <a:srgbClr val="333F70"/>
                </a:solidFill>
                <a:latin typeface="Open Sans"/>
                <a:ea typeface="Open Sans"/>
                <a:cs typeface="Open Sans"/>
                <a:sym typeface="Open Sans"/>
              </a:rPr>
              <a:t>GPIO-driven auditory and visual alert outputs for immediate driver notification of safety events</a:t>
            </a:r>
          </a:p>
        </p:txBody>
      </p:sp>
      <p:sp>
        <p:nvSpPr>
          <p:cNvPr name="TextBox 32" id="32"/>
          <p:cNvSpPr txBox="true"/>
          <p:nvPr/>
        </p:nvSpPr>
        <p:spPr>
          <a:xfrm rot="0">
            <a:off x="992238" y="8770744"/>
            <a:ext cx="16303523" cy="672408"/>
          </a:xfrm>
          <a:prstGeom prst="rect">
            <a:avLst/>
          </a:prstGeom>
        </p:spPr>
        <p:txBody>
          <a:bodyPr anchor="t" rtlCol="false" tIns="0" lIns="0" bIns="0" rIns="0">
            <a:spAutoFit/>
          </a:bodyPr>
          <a:lstStyle/>
          <a:p>
            <a:pPr algn="l">
              <a:lnSpc>
                <a:spcPts val="2380"/>
              </a:lnSpc>
            </a:pPr>
            <a:r>
              <a:rPr lang="en-US" sz="1600">
                <a:solidFill>
                  <a:srgbClr val="333F70"/>
                </a:solidFill>
                <a:latin typeface="Open Sans"/>
                <a:ea typeface="Open Sans"/>
                <a:cs typeface="Open Sans"/>
                <a:sym typeface="Open Sans"/>
              </a:rPr>
              <a:t>The firmware is written entirely in Embedded C using the STM32 HAL library, with interrupt-driven UART for GPS NMEA parsing, I²C communication for IMU data acquisition, and hardware timer interrupts for precise drowsiness timeout management and ultrasonic echo measurement.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6F5E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92238" y="772420"/>
            <a:ext cx="3964038" cy="358083"/>
          </a:xfrm>
          <a:prstGeom prst="rect">
            <a:avLst/>
          </a:prstGeom>
        </p:spPr>
        <p:txBody>
          <a:bodyPr anchor="t" rtlCol="false" tIns="0" lIns="0" bIns="0" rIns="0">
            <a:spAutoFit/>
          </a:bodyPr>
          <a:lstStyle/>
          <a:p>
            <a:pPr algn="l">
              <a:lnSpc>
                <a:spcPts val="2620"/>
              </a:lnSpc>
            </a:pPr>
            <a:r>
              <a:rPr lang="en-US" sz="2100" b="true">
                <a:solidFill>
                  <a:srgbClr val="333F70"/>
                </a:solidFill>
                <a:latin typeface="Arimo Bold"/>
                <a:ea typeface="Arimo Bold"/>
                <a:cs typeface="Arimo Bold"/>
                <a:sym typeface="Arimo Bold"/>
              </a:rPr>
              <a:t>System Workflow</a:t>
            </a:r>
          </a:p>
        </p:txBody>
      </p:sp>
      <p:sp>
        <p:nvSpPr>
          <p:cNvPr name="TextBox 7" id="7"/>
          <p:cNvSpPr txBox="true"/>
          <p:nvPr/>
        </p:nvSpPr>
        <p:spPr>
          <a:xfrm rot="0">
            <a:off x="992238" y="1168298"/>
            <a:ext cx="12535938" cy="716461"/>
          </a:xfrm>
          <a:prstGeom prst="rect">
            <a:avLst/>
          </a:prstGeom>
        </p:spPr>
        <p:txBody>
          <a:bodyPr anchor="t" rtlCol="false" tIns="0" lIns="0" bIns="0" rIns="0">
            <a:spAutoFit/>
          </a:bodyPr>
          <a:lstStyle/>
          <a:p>
            <a:pPr algn="l">
              <a:lnSpc>
                <a:spcPts val="5241"/>
              </a:lnSpc>
            </a:pPr>
            <a:r>
              <a:rPr lang="en-US" sz="4200" b="true">
                <a:solidFill>
                  <a:srgbClr val="333F70"/>
                </a:solidFill>
                <a:latin typeface="Arimo Bold"/>
                <a:ea typeface="Arimo Bold"/>
                <a:cs typeface="Arimo Bold"/>
                <a:sym typeface="Arimo Bold"/>
              </a:rPr>
              <a:t>Real-Time Sensor Processing Loop</a:t>
            </a:r>
          </a:p>
        </p:txBody>
      </p:sp>
      <p:sp>
        <p:nvSpPr>
          <p:cNvPr name="TextBox 8" id="8"/>
          <p:cNvSpPr txBox="true"/>
          <p:nvPr/>
        </p:nvSpPr>
        <p:spPr>
          <a:xfrm rot="0">
            <a:off x="992238" y="2121989"/>
            <a:ext cx="16303523" cy="630555"/>
          </a:xfrm>
          <a:prstGeom prst="rect">
            <a:avLst/>
          </a:prstGeom>
        </p:spPr>
        <p:txBody>
          <a:bodyPr anchor="t" rtlCol="false" tIns="0" lIns="0" bIns="0" rIns="0">
            <a:spAutoFit/>
          </a:bodyPr>
          <a:lstStyle/>
          <a:p>
            <a:pPr algn="l">
              <a:lnSpc>
                <a:spcPts val="2550"/>
              </a:lnSpc>
            </a:pPr>
            <a:r>
              <a:rPr lang="en-US" sz="1700">
                <a:solidFill>
                  <a:srgbClr val="333F70"/>
                </a:solidFill>
                <a:latin typeface="Open Sans"/>
                <a:ea typeface="Open Sans"/>
                <a:cs typeface="Open Sans"/>
                <a:sym typeface="Open Sans"/>
              </a:rPr>
              <a:t>The microcontroller continuously monitors each sensor subsystem, acquiring raw data, running detection algorithms against calibrated thresholds, and generating appropriate alerts before restarting the cycle. Interrupt service routines handle GPS character reception and drowsiness timer events asynchronously.</a:t>
            </a:r>
          </a:p>
        </p:txBody>
      </p:sp>
      <p:grpSp>
        <p:nvGrpSpPr>
          <p:cNvPr name="Group 9" id="9"/>
          <p:cNvGrpSpPr/>
          <p:nvPr/>
        </p:nvGrpSpPr>
        <p:grpSpPr>
          <a:xfrm rot="0">
            <a:off x="1253280" y="3034455"/>
            <a:ext cx="15781287" cy="5921873"/>
            <a:chOff x="0" y="0"/>
            <a:chExt cx="21041716" cy="7895831"/>
          </a:xfrm>
        </p:grpSpPr>
        <p:sp>
          <p:nvSpPr>
            <p:cNvPr name="Freeform 10" id="10" descr="preencoded.png"/>
            <p:cNvSpPr/>
            <p:nvPr/>
          </p:nvSpPr>
          <p:spPr>
            <a:xfrm flipH="false" flipV="false" rot="0">
              <a:off x="0" y="0"/>
              <a:ext cx="21041740" cy="7895844"/>
            </a:xfrm>
            <a:custGeom>
              <a:avLst/>
              <a:gdLst/>
              <a:ahLst/>
              <a:cxnLst/>
              <a:rect r="r" b="b" t="t" l="l"/>
              <a:pathLst>
                <a:path h="7895844" w="21041740">
                  <a:moveTo>
                    <a:pt x="0" y="0"/>
                  </a:moveTo>
                  <a:lnTo>
                    <a:pt x="21041740" y="0"/>
                  </a:lnTo>
                  <a:lnTo>
                    <a:pt x="21041740" y="7895844"/>
                  </a:lnTo>
                  <a:lnTo>
                    <a:pt x="0" y="7895844"/>
                  </a:lnTo>
                  <a:lnTo>
                    <a:pt x="0" y="0"/>
                  </a:lnTo>
                  <a:close/>
                </a:path>
              </a:pathLst>
            </a:custGeom>
            <a:blipFill>
              <a:blip r:embed="rId3"/>
              <a:stretch>
                <a:fillRect l="0" t="-17" r="0" b="-17"/>
              </a:stretch>
            </a:blipFill>
          </p:spPr>
        </p:sp>
      </p:grpSp>
      <p:sp>
        <p:nvSpPr>
          <p:cNvPr name="TextBox 11" id="11"/>
          <p:cNvSpPr txBox="true"/>
          <p:nvPr/>
        </p:nvSpPr>
        <p:spPr>
          <a:xfrm rot="0">
            <a:off x="14004417" y="7490165"/>
            <a:ext cx="2380298" cy="487109"/>
          </a:xfrm>
          <a:prstGeom prst="rect">
            <a:avLst/>
          </a:prstGeom>
        </p:spPr>
        <p:txBody>
          <a:bodyPr anchor="t" rtlCol="false" tIns="0" lIns="0" bIns="0" rIns="0">
            <a:spAutoFit/>
          </a:bodyPr>
          <a:lstStyle/>
          <a:p>
            <a:pPr algn="ctr">
              <a:lnSpc>
                <a:spcPts val="3494"/>
              </a:lnSpc>
            </a:pPr>
            <a:r>
              <a:rPr lang="en-US" sz="2799" b="true">
                <a:solidFill>
                  <a:srgbClr val="333F70"/>
                </a:solidFill>
                <a:latin typeface="Arimo Bold"/>
                <a:ea typeface="Arimo Bold"/>
                <a:cs typeface="Arimo Bold"/>
                <a:sym typeface="Arimo Bold"/>
              </a:rPr>
              <a:t>Read IR</a:t>
            </a:r>
          </a:p>
        </p:txBody>
      </p:sp>
      <p:sp>
        <p:nvSpPr>
          <p:cNvPr name="TextBox 12" id="12"/>
          <p:cNvSpPr txBox="true"/>
          <p:nvPr/>
        </p:nvSpPr>
        <p:spPr>
          <a:xfrm rot="0">
            <a:off x="11004594" y="7031631"/>
            <a:ext cx="2380288" cy="1404175"/>
          </a:xfrm>
          <a:prstGeom prst="rect">
            <a:avLst/>
          </a:prstGeom>
        </p:spPr>
        <p:txBody>
          <a:bodyPr anchor="t" rtlCol="false" tIns="0" lIns="0" bIns="0" rIns="0">
            <a:spAutoFit/>
          </a:bodyPr>
          <a:lstStyle/>
          <a:p>
            <a:pPr algn="ctr">
              <a:lnSpc>
                <a:spcPts val="3494"/>
              </a:lnSpc>
            </a:pPr>
            <a:r>
              <a:rPr lang="en-US" sz="2799" b="true">
                <a:solidFill>
                  <a:srgbClr val="333F70"/>
                </a:solidFill>
                <a:latin typeface="Arimo Bold"/>
                <a:ea typeface="Arimo Bold"/>
                <a:cs typeface="Arimo Bold"/>
                <a:sym typeface="Arimo Bold"/>
              </a:rPr>
              <a:t>Read Ultrasonic</a:t>
            </a:r>
          </a:p>
        </p:txBody>
      </p:sp>
      <p:sp>
        <p:nvSpPr>
          <p:cNvPr name="TextBox 13" id="13"/>
          <p:cNvSpPr txBox="true"/>
          <p:nvPr/>
        </p:nvSpPr>
        <p:spPr>
          <a:xfrm rot="0">
            <a:off x="8021079" y="7260898"/>
            <a:ext cx="2380288" cy="945642"/>
          </a:xfrm>
          <a:prstGeom prst="rect">
            <a:avLst/>
          </a:prstGeom>
        </p:spPr>
        <p:txBody>
          <a:bodyPr anchor="t" rtlCol="false" tIns="0" lIns="0" bIns="0" rIns="0">
            <a:spAutoFit/>
          </a:bodyPr>
          <a:lstStyle/>
          <a:p>
            <a:pPr algn="ctr">
              <a:lnSpc>
                <a:spcPts val="3494"/>
              </a:lnSpc>
            </a:pPr>
            <a:r>
              <a:rPr lang="en-US" sz="2799" b="true">
                <a:solidFill>
                  <a:srgbClr val="333F70"/>
                </a:solidFill>
                <a:latin typeface="Arimo Bold"/>
                <a:ea typeface="Arimo Bold"/>
                <a:cs typeface="Arimo Bold"/>
                <a:sym typeface="Arimo Bold"/>
              </a:rPr>
              <a:t>Read MPU6050</a:t>
            </a:r>
          </a:p>
        </p:txBody>
      </p:sp>
      <p:sp>
        <p:nvSpPr>
          <p:cNvPr name="TextBox 14" id="14"/>
          <p:cNvSpPr txBox="true"/>
          <p:nvPr/>
        </p:nvSpPr>
        <p:spPr>
          <a:xfrm rot="0">
            <a:off x="5037563" y="7490165"/>
            <a:ext cx="2380288" cy="487109"/>
          </a:xfrm>
          <a:prstGeom prst="rect">
            <a:avLst/>
          </a:prstGeom>
        </p:spPr>
        <p:txBody>
          <a:bodyPr anchor="t" rtlCol="false" tIns="0" lIns="0" bIns="0" rIns="0">
            <a:spAutoFit/>
          </a:bodyPr>
          <a:lstStyle/>
          <a:p>
            <a:pPr algn="ctr">
              <a:lnSpc>
                <a:spcPts val="3494"/>
              </a:lnSpc>
            </a:pPr>
            <a:r>
              <a:rPr lang="en-US" sz="2799" b="true">
                <a:solidFill>
                  <a:srgbClr val="333F70"/>
                </a:solidFill>
                <a:latin typeface="Arimo Bold"/>
                <a:ea typeface="Arimo Bold"/>
                <a:cs typeface="Arimo Bold"/>
                <a:sym typeface="Arimo Bold"/>
              </a:rPr>
              <a:t>Read GPS</a:t>
            </a:r>
          </a:p>
        </p:txBody>
      </p:sp>
      <p:sp>
        <p:nvSpPr>
          <p:cNvPr name="TextBox 15" id="15"/>
          <p:cNvSpPr txBox="true"/>
          <p:nvPr/>
        </p:nvSpPr>
        <p:spPr>
          <a:xfrm rot="0">
            <a:off x="1988830" y="7260898"/>
            <a:ext cx="2380288" cy="945642"/>
          </a:xfrm>
          <a:prstGeom prst="rect">
            <a:avLst/>
          </a:prstGeom>
        </p:spPr>
        <p:txBody>
          <a:bodyPr anchor="t" rtlCol="false" tIns="0" lIns="0" bIns="0" rIns="0">
            <a:spAutoFit/>
          </a:bodyPr>
          <a:lstStyle/>
          <a:p>
            <a:pPr algn="ctr">
              <a:lnSpc>
                <a:spcPts val="3494"/>
              </a:lnSpc>
            </a:pPr>
            <a:r>
              <a:rPr lang="en-US" sz="2799" b="true">
                <a:solidFill>
                  <a:srgbClr val="333F70"/>
                </a:solidFill>
                <a:latin typeface="Arimo Bold"/>
                <a:ea typeface="Arimo Bold"/>
                <a:cs typeface="Arimo Bold"/>
                <a:sym typeface="Arimo Bold"/>
              </a:rPr>
              <a:t>Init System</a:t>
            </a:r>
          </a:p>
        </p:txBody>
      </p:sp>
      <p:sp>
        <p:nvSpPr>
          <p:cNvPr name="TextBox 16" id="16"/>
          <p:cNvSpPr txBox="true"/>
          <p:nvPr/>
        </p:nvSpPr>
        <p:spPr>
          <a:xfrm rot="0">
            <a:off x="992238" y="9122273"/>
            <a:ext cx="17217923" cy="306705"/>
          </a:xfrm>
          <a:prstGeom prst="rect">
            <a:avLst/>
          </a:prstGeom>
        </p:spPr>
        <p:txBody>
          <a:bodyPr anchor="t" rtlCol="false" tIns="0" lIns="0" bIns="0" rIns="0">
            <a:spAutoFit/>
          </a:bodyPr>
          <a:lstStyle/>
          <a:p>
            <a:pPr algn="l">
              <a:lnSpc>
                <a:spcPts val="2550"/>
              </a:lnSpc>
            </a:pPr>
            <a:r>
              <a:rPr lang="en-US" sz="1700">
                <a:solidFill>
                  <a:srgbClr val="333F70"/>
                </a:solidFill>
                <a:latin typeface="Open Sans"/>
                <a:ea typeface="Open Sans"/>
                <a:cs typeface="Open Sans"/>
                <a:sym typeface="Open Sans"/>
              </a:rPr>
              <a:t>The loop achieves deterministic real-time performance with no blocking delays, ensuring quick response to critical collision and drowsiness events.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6F5E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92238" y="679847"/>
            <a:ext cx="6657975" cy="336499"/>
          </a:xfrm>
          <a:prstGeom prst="rect">
            <a:avLst/>
          </a:prstGeom>
        </p:spPr>
        <p:txBody>
          <a:bodyPr anchor="t" rtlCol="false" tIns="0" lIns="0" bIns="0" rIns="0">
            <a:spAutoFit/>
          </a:bodyPr>
          <a:lstStyle/>
          <a:p>
            <a:pPr algn="l">
              <a:lnSpc>
                <a:spcPts val="2496"/>
              </a:lnSpc>
            </a:pPr>
            <a:r>
              <a:rPr lang="en-US" sz="2000" b="true">
                <a:solidFill>
                  <a:srgbClr val="333F70"/>
                </a:solidFill>
                <a:latin typeface="Arimo Bold"/>
                <a:ea typeface="Arimo Bold"/>
                <a:cs typeface="Arimo Bold"/>
                <a:sym typeface="Arimo Bold"/>
              </a:rPr>
              <a:t>Detection Algorithms &amp; Thresholds</a:t>
            </a:r>
          </a:p>
        </p:txBody>
      </p:sp>
      <p:sp>
        <p:nvSpPr>
          <p:cNvPr name="TextBox 7" id="7"/>
          <p:cNvSpPr txBox="true"/>
          <p:nvPr/>
        </p:nvSpPr>
        <p:spPr>
          <a:xfrm rot="0">
            <a:off x="992238" y="1048788"/>
            <a:ext cx="10818609" cy="692201"/>
          </a:xfrm>
          <a:prstGeom prst="rect">
            <a:avLst/>
          </a:prstGeom>
        </p:spPr>
        <p:txBody>
          <a:bodyPr anchor="t" rtlCol="false" tIns="0" lIns="0" bIns="0" rIns="0">
            <a:spAutoFit/>
          </a:bodyPr>
          <a:lstStyle/>
          <a:p>
            <a:pPr algn="l">
              <a:lnSpc>
                <a:spcPts val="5116"/>
              </a:lnSpc>
            </a:pPr>
            <a:r>
              <a:rPr lang="en-US" sz="4100" b="true">
                <a:solidFill>
                  <a:srgbClr val="333F70"/>
                </a:solidFill>
                <a:latin typeface="Arimo Bold"/>
                <a:ea typeface="Arimo Bold"/>
                <a:cs typeface="Arimo Bold"/>
                <a:sym typeface="Arimo Bold"/>
              </a:rPr>
              <a:t>Threshold-Based Safety Logic</a:t>
            </a:r>
          </a:p>
        </p:txBody>
      </p:sp>
      <p:grpSp>
        <p:nvGrpSpPr>
          <p:cNvPr name="Group 8" id="8"/>
          <p:cNvGrpSpPr/>
          <p:nvPr/>
        </p:nvGrpSpPr>
        <p:grpSpPr>
          <a:xfrm rot="0">
            <a:off x="987476" y="2001145"/>
            <a:ext cx="16313048" cy="3807171"/>
            <a:chOff x="0" y="0"/>
            <a:chExt cx="21750731" cy="5076228"/>
          </a:xfrm>
        </p:grpSpPr>
        <p:sp>
          <p:nvSpPr>
            <p:cNvPr name="Freeform 9" id="9"/>
            <p:cNvSpPr/>
            <p:nvPr/>
          </p:nvSpPr>
          <p:spPr>
            <a:xfrm flipH="false" flipV="false" rot="0">
              <a:off x="0" y="0"/>
              <a:ext cx="21750655" cy="5076190"/>
            </a:xfrm>
            <a:custGeom>
              <a:avLst/>
              <a:gdLst/>
              <a:ahLst/>
              <a:cxnLst/>
              <a:rect r="r" b="b" t="t" l="l"/>
              <a:pathLst>
                <a:path h="5076190" w="21750655">
                  <a:moveTo>
                    <a:pt x="0" y="117475"/>
                  </a:moveTo>
                  <a:cubicBezTo>
                    <a:pt x="0" y="52578"/>
                    <a:pt x="52578" y="0"/>
                    <a:pt x="117475" y="0"/>
                  </a:cubicBezTo>
                  <a:lnTo>
                    <a:pt x="21633180" y="0"/>
                  </a:lnTo>
                  <a:cubicBezTo>
                    <a:pt x="21698077" y="0"/>
                    <a:pt x="21750655" y="52578"/>
                    <a:pt x="21750655" y="117475"/>
                  </a:cubicBezTo>
                  <a:lnTo>
                    <a:pt x="21750655" y="4958715"/>
                  </a:lnTo>
                  <a:cubicBezTo>
                    <a:pt x="21750655" y="5023612"/>
                    <a:pt x="21698077" y="5076190"/>
                    <a:pt x="21633180" y="5076190"/>
                  </a:cubicBezTo>
                  <a:lnTo>
                    <a:pt x="117475" y="5076190"/>
                  </a:lnTo>
                  <a:cubicBezTo>
                    <a:pt x="52578" y="5076190"/>
                    <a:pt x="0" y="5023612"/>
                    <a:pt x="0" y="4958715"/>
                  </a:cubicBezTo>
                  <a:close/>
                </a:path>
              </a:pathLst>
            </a:custGeom>
            <a:blipFill>
              <a:blip r:embed="rId3">
                <a:alphaModFix amt="0"/>
              </a:blip>
              <a:stretch>
                <a:fillRect l="0" t="-33490" r="0" b="-33490"/>
              </a:stretch>
            </a:blipFill>
            <a:ln w="9526" cap="sq">
              <a:solidFill>
                <a:srgbClr val="000000"/>
              </a:solidFill>
              <a:prstDash val="solid"/>
              <a:miter/>
            </a:ln>
          </p:spPr>
        </p:sp>
      </p:grpSp>
      <p:grpSp>
        <p:nvGrpSpPr>
          <p:cNvPr name="Group 10" id="10"/>
          <p:cNvGrpSpPr/>
          <p:nvPr/>
        </p:nvGrpSpPr>
        <p:grpSpPr>
          <a:xfrm rot="0">
            <a:off x="1001763" y="2015433"/>
            <a:ext cx="16284473" cy="539801"/>
            <a:chOff x="0" y="0"/>
            <a:chExt cx="21712631" cy="719734"/>
          </a:xfrm>
        </p:grpSpPr>
        <p:sp>
          <p:nvSpPr>
            <p:cNvPr name="Freeform 11" id="11"/>
            <p:cNvSpPr/>
            <p:nvPr/>
          </p:nvSpPr>
          <p:spPr>
            <a:xfrm flipH="false" flipV="false" rot="0">
              <a:off x="0" y="0"/>
              <a:ext cx="21712682" cy="719709"/>
            </a:xfrm>
            <a:custGeom>
              <a:avLst/>
              <a:gdLst/>
              <a:ahLst/>
              <a:cxnLst/>
              <a:rect r="r" b="b" t="t" l="l"/>
              <a:pathLst>
                <a:path h="719709" w="21712682">
                  <a:moveTo>
                    <a:pt x="0" y="0"/>
                  </a:moveTo>
                  <a:lnTo>
                    <a:pt x="21712682" y="0"/>
                  </a:lnTo>
                  <a:lnTo>
                    <a:pt x="21712682" y="719709"/>
                  </a:lnTo>
                  <a:lnTo>
                    <a:pt x="0" y="719709"/>
                  </a:lnTo>
                  <a:close/>
                </a:path>
              </a:pathLst>
            </a:custGeom>
            <a:solidFill>
              <a:srgbClr val="FFFFFF">
                <a:alpha val="0"/>
              </a:srgbClr>
            </a:solidFill>
          </p:spPr>
        </p:sp>
      </p:grpSp>
      <p:grpSp>
        <p:nvGrpSpPr>
          <p:cNvPr name="Group 12" id="12"/>
          <p:cNvGrpSpPr/>
          <p:nvPr/>
        </p:nvGrpSpPr>
        <p:grpSpPr>
          <a:xfrm rot="0">
            <a:off x="1001906" y="2015433"/>
            <a:ext cx="3582438" cy="539801"/>
            <a:chOff x="0" y="0"/>
            <a:chExt cx="4776584" cy="719734"/>
          </a:xfrm>
        </p:grpSpPr>
        <p:sp>
          <p:nvSpPr>
            <p:cNvPr name="Freeform 13" id="13"/>
            <p:cNvSpPr/>
            <p:nvPr/>
          </p:nvSpPr>
          <p:spPr>
            <a:xfrm flipH="false" flipV="false" rot="0">
              <a:off x="0" y="0"/>
              <a:ext cx="4776597" cy="719709"/>
            </a:xfrm>
            <a:custGeom>
              <a:avLst/>
              <a:gdLst/>
              <a:ahLst/>
              <a:cxnLst/>
              <a:rect r="r" b="b" t="t" l="l"/>
              <a:pathLst>
                <a:path h="719709" w="4776597">
                  <a:moveTo>
                    <a:pt x="0" y="0"/>
                  </a:moveTo>
                  <a:lnTo>
                    <a:pt x="4776597" y="0"/>
                  </a:lnTo>
                  <a:lnTo>
                    <a:pt x="4776597" y="719709"/>
                  </a:lnTo>
                  <a:lnTo>
                    <a:pt x="0" y="719709"/>
                  </a:lnTo>
                  <a:close/>
                </a:path>
              </a:pathLst>
            </a:custGeom>
            <a:solidFill>
              <a:srgbClr val="192248"/>
            </a:solidFill>
          </p:spPr>
        </p:sp>
      </p:grpSp>
      <p:sp>
        <p:nvSpPr>
          <p:cNvPr name="TextBox 14" id="14"/>
          <p:cNvSpPr txBox="true"/>
          <p:nvPr/>
        </p:nvSpPr>
        <p:spPr>
          <a:xfrm rot="0">
            <a:off x="1211161" y="2092823"/>
            <a:ext cx="4073576" cy="346920"/>
          </a:xfrm>
          <a:prstGeom prst="rect">
            <a:avLst/>
          </a:prstGeom>
        </p:spPr>
        <p:txBody>
          <a:bodyPr anchor="t" rtlCol="false" tIns="0" lIns="0" bIns="0" rIns="0">
            <a:spAutoFit/>
          </a:bodyPr>
          <a:lstStyle/>
          <a:p>
            <a:pPr algn="l">
              <a:lnSpc>
                <a:spcPts val="2361"/>
              </a:lnSpc>
            </a:pPr>
            <a:r>
              <a:rPr lang="en-US" sz="1600" b="true">
                <a:solidFill>
                  <a:srgbClr val="FFFFFF"/>
                </a:solidFill>
                <a:latin typeface="Open Sans Bold"/>
                <a:ea typeface="Open Sans Bold"/>
                <a:cs typeface="Open Sans Bold"/>
                <a:sym typeface="Open Sans Bold"/>
              </a:rPr>
              <a:t>Feature</a:t>
            </a:r>
          </a:p>
        </p:txBody>
      </p:sp>
      <p:grpSp>
        <p:nvGrpSpPr>
          <p:cNvPr name="Group 15" id="15"/>
          <p:cNvGrpSpPr/>
          <p:nvPr/>
        </p:nvGrpSpPr>
        <p:grpSpPr>
          <a:xfrm rot="0">
            <a:off x="4584354" y="2015433"/>
            <a:ext cx="12701883" cy="539801"/>
            <a:chOff x="0" y="0"/>
            <a:chExt cx="16935844" cy="719734"/>
          </a:xfrm>
        </p:grpSpPr>
        <p:sp>
          <p:nvSpPr>
            <p:cNvPr name="Freeform 16" id="16"/>
            <p:cNvSpPr/>
            <p:nvPr/>
          </p:nvSpPr>
          <p:spPr>
            <a:xfrm flipH="false" flipV="false" rot="0">
              <a:off x="0" y="0"/>
              <a:ext cx="16935831" cy="719709"/>
            </a:xfrm>
            <a:custGeom>
              <a:avLst/>
              <a:gdLst/>
              <a:ahLst/>
              <a:cxnLst/>
              <a:rect r="r" b="b" t="t" l="l"/>
              <a:pathLst>
                <a:path h="719709" w="16935831">
                  <a:moveTo>
                    <a:pt x="0" y="0"/>
                  </a:moveTo>
                  <a:lnTo>
                    <a:pt x="16935831" y="0"/>
                  </a:lnTo>
                  <a:lnTo>
                    <a:pt x="16935831" y="719709"/>
                  </a:lnTo>
                  <a:lnTo>
                    <a:pt x="0" y="719709"/>
                  </a:lnTo>
                  <a:close/>
                </a:path>
              </a:pathLst>
            </a:custGeom>
            <a:solidFill>
              <a:srgbClr val="192248"/>
            </a:solidFill>
          </p:spPr>
        </p:sp>
      </p:grpSp>
      <p:sp>
        <p:nvSpPr>
          <p:cNvPr name="TextBox 17" id="17"/>
          <p:cNvSpPr txBox="true"/>
          <p:nvPr/>
        </p:nvSpPr>
        <p:spPr>
          <a:xfrm rot="0">
            <a:off x="4798371" y="2092823"/>
            <a:ext cx="13193020" cy="346920"/>
          </a:xfrm>
          <a:prstGeom prst="rect">
            <a:avLst/>
          </a:prstGeom>
        </p:spPr>
        <p:txBody>
          <a:bodyPr anchor="t" rtlCol="false" tIns="0" lIns="0" bIns="0" rIns="0">
            <a:spAutoFit/>
          </a:bodyPr>
          <a:lstStyle/>
          <a:p>
            <a:pPr algn="l">
              <a:lnSpc>
                <a:spcPts val="2361"/>
              </a:lnSpc>
            </a:pPr>
            <a:r>
              <a:rPr lang="en-US" sz="1600" b="true">
                <a:solidFill>
                  <a:srgbClr val="FFFFFF"/>
                </a:solidFill>
                <a:latin typeface="Open Sans Bold"/>
                <a:ea typeface="Open Sans Bold"/>
                <a:cs typeface="Open Sans Bold"/>
                <a:sym typeface="Open Sans Bold"/>
              </a:rPr>
              <a:t>Logic / Threshold</a:t>
            </a:r>
          </a:p>
        </p:txBody>
      </p:sp>
      <p:grpSp>
        <p:nvGrpSpPr>
          <p:cNvPr name="Group 18" id="18"/>
          <p:cNvGrpSpPr/>
          <p:nvPr/>
        </p:nvGrpSpPr>
        <p:grpSpPr>
          <a:xfrm rot="0">
            <a:off x="1001763" y="2555234"/>
            <a:ext cx="16284473" cy="539801"/>
            <a:chOff x="0" y="0"/>
            <a:chExt cx="21712631" cy="719734"/>
          </a:xfrm>
        </p:grpSpPr>
        <p:sp>
          <p:nvSpPr>
            <p:cNvPr name="Freeform 19" id="19"/>
            <p:cNvSpPr/>
            <p:nvPr/>
          </p:nvSpPr>
          <p:spPr>
            <a:xfrm flipH="false" flipV="false" rot="0">
              <a:off x="0" y="0"/>
              <a:ext cx="21712682" cy="719709"/>
            </a:xfrm>
            <a:custGeom>
              <a:avLst/>
              <a:gdLst/>
              <a:ahLst/>
              <a:cxnLst/>
              <a:rect r="r" b="b" t="t" l="l"/>
              <a:pathLst>
                <a:path h="719709" w="21712682">
                  <a:moveTo>
                    <a:pt x="0" y="0"/>
                  </a:moveTo>
                  <a:lnTo>
                    <a:pt x="21712682" y="0"/>
                  </a:lnTo>
                  <a:lnTo>
                    <a:pt x="21712682" y="719709"/>
                  </a:lnTo>
                  <a:lnTo>
                    <a:pt x="0" y="719709"/>
                  </a:lnTo>
                  <a:close/>
                </a:path>
              </a:pathLst>
            </a:custGeom>
            <a:solidFill>
              <a:srgbClr val="000000">
                <a:alpha val="0"/>
              </a:srgbClr>
            </a:solidFill>
          </p:spPr>
        </p:sp>
      </p:grpSp>
      <p:sp>
        <p:nvSpPr>
          <p:cNvPr name="TextBox 20" id="20"/>
          <p:cNvSpPr txBox="true"/>
          <p:nvPr/>
        </p:nvSpPr>
        <p:spPr>
          <a:xfrm rot="0">
            <a:off x="1211161" y="2632624"/>
            <a:ext cx="4073576" cy="346920"/>
          </a:xfrm>
          <a:prstGeom prst="rect">
            <a:avLst/>
          </a:prstGeom>
        </p:spPr>
        <p:txBody>
          <a:bodyPr anchor="t" rtlCol="false" tIns="0" lIns="0" bIns="0" rIns="0">
            <a:spAutoFit/>
          </a:bodyPr>
          <a:lstStyle/>
          <a:p>
            <a:pPr algn="l">
              <a:lnSpc>
                <a:spcPts val="2361"/>
              </a:lnSpc>
            </a:pPr>
            <a:r>
              <a:rPr lang="en-US" sz="1600" b="true">
                <a:solidFill>
                  <a:srgbClr val="333F70"/>
                </a:solidFill>
                <a:latin typeface="Open Sans Bold"/>
                <a:ea typeface="Open Sans Bold"/>
                <a:cs typeface="Open Sans Bold"/>
                <a:sym typeface="Open Sans Bold"/>
              </a:rPr>
              <a:t>Drowsiness</a:t>
            </a:r>
          </a:p>
        </p:txBody>
      </p:sp>
      <p:sp>
        <p:nvSpPr>
          <p:cNvPr name="TextBox 21" id="21"/>
          <p:cNvSpPr txBox="true"/>
          <p:nvPr/>
        </p:nvSpPr>
        <p:spPr>
          <a:xfrm rot="0">
            <a:off x="4798371" y="2632624"/>
            <a:ext cx="13193020" cy="346920"/>
          </a:xfrm>
          <a:prstGeom prst="rect">
            <a:avLst/>
          </a:prstGeom>
        </p:spPr>
        <p:txBody>
          <a:bodyPr anchor="t" rtlCol="false" tIns="0" lIns="0" bIns="0" rIns="0">
            <a:spAutoFit/>
          </a:bodyPr>
          <a:lstStyle/>
          <a:p>
            <a:pPr algn="l">
              <a:lnSpc>
                <a:spcPts val="2361"/>
              </a:lnSpc>
            </a:pPr>
            <a:r>
              <a:rPr lang="en-US" sz="1600">
                <a:solidFill>
                  <a:srgbClr val="333F70"/>
                </a:solidFill>
                <a:latin typeface="Open Sans"/>
                <a:ea typeface="Open Sans"/>
                <a:cs typeface="Open Sans"/>
                <a:sym typeface="Open Sans"/>
              </a:rPr>
              <a:t>No eye blink detected for </a:t>
            </a:r>
            <a:r>
              <a:rPr lang="en-US" sz="1600" b="true">
                <a:solidFill>
                  <a:srgbClr val="333F70"/>
                </a:solidFill>
                <a:latin typeface="Open Sans Bold"/>
                <a:ea typeface="Open Sans Bold"/>
                <a:cs typeface="Open Sans Bold"/>
                <a:sym typeface="Open Sans Bold"/>
              </a:rPr>
              <a:t>5 seconds</a:t>
            </a:r>
            <a:r>
              <a:rPr lang="en-US" sz="1600">
                <a:solidFill>
                  <a:srgbClr val="333F70"/>
                </a:solidFill>
                <a:latin typeface="Open Sans"/>
                <a:ea typeface="Open Sans"/>
                <a:cs typeface="Open Sans"/>
                <a:sym typeface="Open Sans"/>
              </a:rPr>
              <a:t> (interrupt-based timer)</a:t>
            </a:r>
          </a:p>
        </p:txBody>
      </p:sp>
      <p:grpSp>
        <p:nvGrpSpPr>
          <p:cNvPr name="Group 22" id="22"/>
          <p:cNvGrpSpPr/>
          <p:nvPr/>
        </p:nvGrpSpPr>
        <p:grpSpPr>
          <a:xfrm rot="0">
            <a:off x="1001763" y="3095034"/>
            <a:ext cx="16284473" cy="539801"/>
            <a:chOff x="0" y="0"/>
            <a:chExt cx="21712631" cy="719734"/>
          </a:xfrm>
        </p:grpSpPr>
        <p:sp>
          <p:nvSpPr>
            <p:cNvPr name="Freeform 23" id="23"/>
            <p:cNvSpPr/>
            <p:nvPr/>
          </p:nvSpPr>
          <p:spPr>
            <a:xfrm flipH="false" flipV="false" rot="0">
              <a:off x="0" y="0"/>
              <a:ext cx="21712682" cy="719709"/>
            </a:xfrm>
            <a:custGeom>
              <a:avLst/>
              <a:gdLst/>
              <a:ahLst/>
              <a:cxnLst/>
              <a:rect r="r" b="b" t="t" l="l"/>
              <a:pathLst>
                <a:path h="719709" w="21712682">
                  <a:moveTo>
                    <a:pt x="0" y="0"/>
                  </a:moveTo>
                  <a:lnTo>
                    <a:pt x="21712682" y="0"/>
                  </a:lnTo>
                  <a:lnTo>
                    <a:pt x="21712682" y="719709"/>
                  </a:lnTo>
                  <a:lnTo>
                    <a:pt x="0" y="719709"/>
                  </a:lnTo>
                  <a:close/>
                </a:path>
              </a:pathLst>
            </a:custGeom>
            <a:solidFill>
              <a:srgbClr val="FFFFFF">
                <a:alpha val="0"/>
              </a:srgbClr>
            </a:solidFill>
          </p:spPr>
        </p:sp>
      </p:grpSp>
      <p:sp>
        <p:nvSpPr>
          <p:cNvPr name="TextBox 24" id="24"/>
          <p:cNvSpPr txBox="true"/>
          <p:nvPr/>
        </p:nvSpPr>
        <p:spPr>
          <a:xfrm rot="0">
            <a:off x="1211161" y="3172416"/>
            <a:ext cx="4073576" cy="346920"/>
          </a:xfrm>
          <a:prstGeom prst="rect">
            <a:avLst/>
          </a:prstGeom>
        </p:spPr>
        <p:txBody>
          <a:bodyPr anchor="t" rtlCol="false" tIns="0" lIns="0" bIns="0" rIns="0">
            <a:spAutoFit/>
          </a:bodyPr>
          <a:lstStyle/>
          <a:p>
            <a:pPr algn="l">
              <a:lnSpc>
                <a:spcPts val="2361"/>
              </a:lnSpc>
            </a:pPr>
            <a:r>
              <a:rPr lang="en-US" sz="1600" b="true">
                <a:solidFill>
                  <a:srgbClr val="333F70"/>
                </a:solidFill>
                <a:latin typeface="Open Sans Bold"/>
                <a:ea typeface="Open Sans Bold"/>
                <a:cs typeface="Open Sans Bold"/>
                <a:sym typeface="Open Sans Bold"/>
              </a:rPr>
              <a:t>Collision</a:t>
            </a:r>
          </a:p>
        </p:txBody>
      </p:sp>
      <p:sp>
        <p:nvSpPr>
          <p:cNvPr name="TextBox 25" id="25"/>
          <p:cNvSpPr txBox="true"/>
          <p:nvPr/>
        </p:nvSpPr>
        <p:spPr>
          <a:xfrm rot="0">
            <a:off x="4798371" y="3172416"/>
            <a:ext cx="13193020" cy="346920"/>
          </a:xfrm>
          <a:prstGeom prst="rect">
            <a:avLst/>
          </a:prstGeom>
        </p:spPr>
        <p:txBody>
          <a:bodyPr anchor="t" rtlCol="false" tIns="0" lIns="0" bIns="0" rIns="0">
            <a:spAutoFit/>
          </a:bodyPr>
          <a:lstStyle/>
          <a:p>
            <a:pPr algn="l">
              <a:lnSpc>
                <a:spcPts val="2361"/>
              </a:lnSpc>
            </a:pPr>
            <a:r>
              <a:rPr lang="en-US" sz="1600">
                <a:solidFill>
                  <a:srgbClr val="333F70"/>
                </a:solidFill>
                <a:latin typeface="Open Sans"/>
                <a:ea typeface="Open Sans"/>
                <a:cs typeface="Open Sans"/>
                <a:sym typeface="Open Sans"/>
              </a:rPr>
              <a:t>Obstacle distance &lt; dynamically computed Safe Distance</a:t>
            </a:r>
          </a:p>
        </p:txBody>
      </p:sp>
      <p:grpSp>
        <p:nvGrpSpPr>
          <p:cNvPr name="Group 26" id="26"/>
          <p:cNvGrpSpPr/>
          <p:nvPr/>
        </p:nvGrpSpPr>
        <p:grpSpPr>
          <a:xfrm rot="0">
            <a:off x="1001763" y="3634826"/>
            <a:ext cx="16284473" cy="539801"/>
            <a:chOff x="0" y="0"/>
            <a:chExt cx="21712631" cy="719734"/>
          </a:xfrm>
        </p:grpSpPr>
        <p:sp>
          <p:nvSpPr>
            <p:cNvPr name="Freeform 27" id="27"/>
            <p:cNvSpPr/>
            <p:nvPr/>
          </p:nvSpPr>
          <p:spPr>
            <a:xfrm flipH="false" flipV="false" rot="0">
              <a:off x="0" y="0"/>
              <a:ext cx="21712682" cy="719709"/>
            </a:xfrm>
            <a:custGeom>
              <a:avLst/>
              <a:gdLst/>
              <a:ahLst/>
              <a:cxnLst/>
              <a:rect r="r" b="b" t="t" l="l"/>
              <a:pathLst>
                <a:path h="719709" w="21712682">
                  <a:moveTo>
                    <a:pt x="0" y="0"/>
                  </a:moveTo>
                  <a:lnTo>
                    <a:pt x="21712682" y="0"/>
                  </a:lnTo>
                  <a:lnTo>
                    <a:pt x="21712682" y="719709"/>
                  </a:lnTo>
                  <a:lnTo>
                    <a:pt x="0" y="719709"/>
                  </a:lnTo>
                  <a:close/>
                </a:path>
              </a:pathLst>
            </a:custGeom>
            <a:solidFill>
              <a:srgbClr val="000000">
                <a:alpha val="0"/>
              </a:srgbClr>
            </a:solidFill>
          </p:spPr>
        </p:sp>
      </p:grpSp>
      <p:sp>
        <p:nvSpPr>
          <p:cNvPr name="TextBox 28" id="28"/>
          <p:cNvSpPr txBox="true"/>
          <p:nvPr/>
        </p:nvSpPr>
        <p:spPr>
          <a:xfrm rot="0">
            <a:off x="1211161" y="3712216"/>
            <a:ext cx="4073576" cy="346920"/>
          </a:xfrm>
          <a:prstGeom prst="rect">
            <a:avLst/>
          </a:prstGeom>
        </p:spPr>
        <p:txBody>
          <a:bodyPr anchor="t" rtlCol="false" tIns="0" lIns="0" bIns="0" rIns="0">
            <a:spAutoFit/>
          </a:bodyPr>
          <a:lstStyle/>
          <a:p>
            <a:pPr algn="l">
              <a:lnSpc>
                <a:spcPts val="2361"/>
              </a:lnSpc>
            </a:pPr>
            <a:r>
              <a:rPr lang="en-US" sz="1600" b="true">
                <a:solidFill>
                  <a:srgbClr val="333F70"/>
                </a:solidFill>
                <a:latin typeface="Open Sans Bold"/>
                <a:ea typeface="Open Sans Bold"/>
                <a:cs typeface="Open Sans Bold"/>
                <a:sym typeface="Open Sans Bold"/>
              </a:rPr>
              <a:t>Overspeed</a:t>
            </a:r>
          </a:p>
        </p:txBody>
      </p:sp>
      <p:sp>
        <p:nvSpPr>
          <p:cNvPr name="TextBox 29" id="29"/>
          <p:cNvSpPr txBox="true"/>
          <p:nvPr/>
        </p:nvSpPr>
        <p:spPr>
          <a:xfrm rot="0">
            <a:off x="4798371" y="3712216"/>
            <a:ext cx="13193020" cy="346920"/>
          </a:xfrm>
          <a:prstGeom prst="rect">
            <a:avLst/>
          </a:prstGeom>
        </p:spPr>
        <p:txBody>
          <a:bodyPr anchor="t" rtlCol="false" tIns="0" lIns="0" bIns="0" rIns="0">
            <a:spAutoFit/>
          </a:bodyPr>
          <a:lstStyle/>
          <a:p>
            <a:pPr algn="l">
              <a:lnSpc>
                <a:spcPts val="2361"/>
              </a:lnSpc>
            </a:pPr>
            <a:r>
              <a:rPr lang="en-US" sz="1600">
                <a:solidFill>
                  <a:srgbClr val="333F70"/>
                </a:solidFill>
                <a:latin typeface="Open Sans"/>
                <a:ea typeface="Open Sans"/>
                <a:cs typeface="Open Sans"/>
                <a:sym typeface="Open Sans"/>
              </a:rPr>
              <a:t>GPS-measured speed &gt; </a:t>
            </a:r>
            <a:r>
              <a:rPr lang="en-US" sz="1600" b="true">
                <a:solidFill>
                  <a:srgbClr val="333F70"/>
                </a:solidFill>
                <a:latin typeface="Open Sans Bold"/>
                <a:ea typeface="Open Sans Bold"/>
                <a:cs typeface="Open Sans Bold"/>
                <a:sym typeface="Open Sans Bold"/>
              </a:rPr>
              <a:t>20 km/h</a:t>
            </a:r>
            <a:r>
              <a:rPr lang="en-US" sz="1600">
                <a:solidFill>
                  <a:srgbClr val="333F70"/>
                </a:solidFill>
                <a:latin typeface="Open Sans"/>
                <a:ea typeface="Open Sans"/>
                <a:cs typeface="Open Sans"/>
                <a:sym typeface="Open Sans"/>
              </a:rPr>
              <a:t> threshold</a:t>
            </a:r>
          </a:p>
        </p:txBody>
      </p:sp>
      <p:grpSp>
        <p:nvGrpSpPr>
          <p:cNvPr name="Group 30" id="30"/>
          <p:cNvGrpSpPr/>
          <p:nvPr/>
        </p:nvGrpSpPr>
        <p:grpSpPr>
          <a:xfrm rot="0">
            <a:off x="1001763" y="4174627"/>
            <a:ext cx="16284473" cy="539801"/>
            <a:chOff x="0" y="0"/>
            <a:chExt cx="21712631" cy="719734"/>
          </a:xfrm>
        </p:grpSpPr>
        <p:sp>
          <p:nvSpPr>
            <p:cNvPr name="Freeform 31" id="31"/>
            <p:cNvSpPr/>
            <p:nvPr/>
          </p:nvSpPr>
          <p:spPr>
            <a:xfrm flipH="false" flipV="false" rot="0">
              <a:off x="0" y="0"/>
              <a:ext cx="21712682" cy="719709"/>
            </a:xfrm>
            <a:custGeom>
              <a:avLst/>
              <a:gdLst/>
              <a:ahLst/>
              <a:cxnLst/>
              <a:rect r="r" b="b" t="t" l="l"/>
              <a:pathLst>
                <a:path h="719709" w="21712682">
                  <a:moveTo>
                    <a:pt x="0" y="0"/>
                  </a:moveTo>
                  <a:lnTo>
                    <a:pt x="21712682" y="0"/>
                  </a:lnTo>
                  <a:lnTo>
                    <a:pt x="21712682" y="719709"/>
                  </a:lnTo>
                  <a:lnTo>
                    <a:pt x="0" y="719709"/>
                  </a:lnTo>
                  <a:close/>
                </a:path>
              </a:pathLst>
            </a:custGeom>
            <a:solidFill>
              <a:srgbClr val="FFFFFF">
                <a:alpha val="0"/>
              </a:srgbClr>
            </a:solidFill>
          </p:spPr>
        </p:sp>
      </p:grpSp>
      <p:sp>
        <p:nvSpPr>
          <p:cNvPr name="TextBox 32" id="32"/>
          <p:cNvSpPr txBox="true"/>
          <p:nvPr/>
        </p:nvSpPr>
        <p:spPr>
          <a:xfrm rot="0">
            <a:off x="1211161" y="4252017"/>
            <a:ext cx="4073576" cy="346920"/>
          </a:xfrm>
          <a:prstGeom prst="rect">
            <a:avLst/>
          </a:prstGeom>
        </p:spPr>
        <p:txBody>
          <a:bodyPr anchor="t" rtlCol="false" tIns="0" lIns="0" bIns="0" rIns="0">
            <a:spAutoFit/>
          </a:bodyPr>
          <a:lstStyle/>
          <a:p>
            <a:pPr algn="l">
              <a:lnSpc>
                <a:spcPts val="2361"/>
              </a:lnSpc>
            </a:pPr>
            <a:r>
              <a:rPr lang="en-US" sz="1600" b="true">
                <a:solidFill>
                  <a:srgbClr val="333F70"/>
                </a:solidFill>
                <a:latin typeface="Open Sans Bold"/>
                <a:ea typeface="Open Sans Bold"/>
                <a:cs typeface="Open Sans Bold"/>
                <a:sym typeface="Open Sans Bold"/>
              </a:rPr>
              <a:t>Harsh Braking</a:t>
            </a:r>
          </a:p>
        </p:txBody>
      </p:sp>
      <p:sp>
        <p:nvSpPr>
          <p:cNvPr name="TextBox 33" id="33"/>
          <p:cNvSpPr txBox="true"/>
          <p:nvPr/>
        </p:nvSpPr>
        <p:spPr>
          <a:xfrm rot="0">
            <a:off x="4798371" y="4252017"/>
            <a:ext cx="13193020" cy="346920"/>
          </a:xfrm>
          <a:prstGeom prst="rect">
            <a:avLst/>
          </a:prstGeom>
        </p:spPr>
        <p:txBody>
          <a:bodyPr anchor="t" rtlCol="false" tIns="0" lIns="0" bIns="0" rIns="0">
            <a:spAutoFit/>
          </a:bodyPr>
          <a:lstStyle/>
          <a:p>
            <a:pPr algn="l">
              <a:lnSpc>
                <a:spcPts val="2361"/>
              </a:lnSpc>
            </a:pPr>
            <a:r>
              <a:rPr lang="en-US" sz="1600">
                <a:solidFill>
                  <a:srgbClr val="333F70"/>
                </a:solidFill>
                <a:latin typeface="Open Sans"/>
                <a:ea typeface="Open Sans"/>
                <a:cs typeface="Open Sans"/>
                <a:sym typeface="Open Sans"/>
              </a:rPr>
              <a:t>Longitudinal acceleration Ax &lt; </a:t>
            </a:r>
            <a:r>
              <a:rPr lang="en-US" sz="1600" b="true">
                <a:solidFill>
                  <a:srgbClr val="333F70"/>
                </a:solidFill>
                <a:latin typeface="Open Sans Bold"/>
                <a:ea typeface="Open Sans Bold"/>
                <a:cs typeface="Open Sans Bold"/>
                <a:sym typeface="Open Sans Bold"/>
              </a:rPr>
              <a:t>−0.3 g</a:t>
            </a:r>
          </a:p>
        </p:txBody>
      </p:sp>
      <p:grpSp>
        <p:nvGrpSpPr>
          <p:cNvPr name="Group 34" id="34"/>
          <p:cNvGrpSpPr/>
          <p:nvPr/>
        </p:nvGrpSpPr>
        <p:grpSpPr>
          <a:xfrm rot="0">
            <a:off x="1001763" y="4714427"/>
            <a:ext cx="16284473" cy="539801"/>
            <a:chOff x="0" y="0"/>
            <a:chExt cx="21712631" cy="719734"/>
          </a:xfrm>
        </p:grpSpPr>
        <p:sp>
          <p:nvSpPr>
            <p:cNvPr name="Freeform 35" id="35"/>
            <p:cNvSpPr/>
            <p:nvPr/>
          </p:nvSpPr>
          <p:spPr>
            <a:xfrm flipH="false" flipV="false" rot="0">
              <a:off x="0" y="0"/>
              <a:ext cx="21712682" cy="719709"/>
            </a:xfrm>
            <a:custGeom>
              <a:avLst/>
              <a:gdLst/>
              <a:ahLst/>
              <a:cxnLst/>
              <a:rect r="r" b="b" t="t" l="l"/>
              <a:pathLst>
                <a:path h="719709" w="21712682">
                  <a:moveTo>
                    <a:pt x="0" y="0"/>
                  </a:moveTo>
                  <a:lnTo>
                    <a:pt x="21712682" y="0"/>
                  </a:lnTo>
                  <a:lnTo>
                    <a:pt x="21712682" y="719709"/>
                  </a:lnTo>
                  <a:lnTo>
                    <a:pt x="0" y="719709"/>
                  </a:lnTo>
                  <a:close/>
                </a:path>
              </a:pathLst>
            </a:custGeom>
            <a:solidFill>
              <a:srgbClr val="000000">
                <a:alpha val="0"/>
              </a:srgbClr>
            </a:solidFill>
          </p:spPr>
        </p:sp>
      </p:grpSp>
      <p:sp>
        <p:nvSpPr>
          <p:cNvPr name="TextBox 36" id="36"/>
          <p:cNvSpPr txBox="true"/>
          <p:nvPr/>
        </p:nvSpPr>
        <p:spPr>
          <a:xfrm rot="0">
            <a:off x="1211161" y="4791818"/>
            <a:ext cx="4073576" cy="346920"/>
          </a:xfrm>
          <a:prstGeom prst="rect">
            <a:avLst/>
          </a:prstGeom>
        </p:spPr>
        <p:txBody>
          <a:bodyPr anchor="t" rtlCol="false" tIns="0" lIns="0" bIns="0" rIns="0">
            <a:spAutoFit/>
          </a:bodyPr>
          <a:lstStyle/>
          <a:p>
            <a:pPr algn="l">
              <a:lnSpc>
                <a:spcPts val="2361"/>
              </a:lnSpc>
            </a:pPr>
            <a:r>
              <a:rPr lang="en-US" sz="1600" b="true">
                <a:solidFill>
                  <a:srgbClr val="333F70"/>
                </a:solidFill>
                <a:latin typeface="Open Sans Bold"/>
                <a:ea typeface="Open Sans Bold"/>
                <a:cs typeface="Open Sans Bold"/>
                <a:sym typeface="Open Sans Bold"/>
              </a:rPr>
              <a:t>Harsh Acceleration</a:t>
            </a:r>
          </a:p>
        </p:txBody>
      </p:sp>
      <p:sp>
        <p:nvSpPr>
          <p:cNvPr name="TextBox 37" id="37"/>
          <p:cNvSpPr txBox="true"/>
          <p:nvPr/>
        </p:nvSpPr>
        <p:spPr>
          <a:xfrm rot="0">
            <a:off x="4798371" y="4791818"/>
            <a:ext cx="13193020" cy="346920"/>
          </a:xfrm>
          <a:prstGeom prst="rect">
            <a:avLst/>
          </a:prstGeom>
        </p:spPr>
        <p:txBody>
          <a:bodyPr anchor="t" rtlCol="false" tIns="0" lIns="0" bIns="0" rIns="0">
            <a:spAutoFit/>
          </a:bodyPr>
          <a:lstStyle/>
          <a:p>
            <a:pPr algn="l">
              <a:lnSpc>
                <a:spcPts val="2361"/>
              </a:lnSpc>
            </a:pPr>
            <a:r>
              <a:rPr lang="en-US" sz="1600">
                <a:solidFill>
                  <a:srgbClr val="333F70"/>
                </a:solidFill>
                <a:latin typeface="Open Sans"/>
                <a:ea typeface="Open Sans"/>
                <a:cs typeface="Open Sans"/>
                <a:sym typeface="Open Sans"/>
              </a:rPr>
              <a:t>Longitudinal acceleration Ax &gt; </a:t>
            </a:r>
            <a:r>
              <a:rPr lang="en-US" sz="1600" b="true">
                <a:solidFill>
                  <a:srgbClr val="333F70"/>
                </a:solidFill>
                <a:latin typeface="Open Sans Bold"/>
                <a:ea typeface="Open Sans Bold"/>
                <a:cs typeface="Open Sans Bold"/>
                <a:sym typeface="Open Sans Bold"/>
              </a:rPr>
              <a:t>+0.3 g</a:t>
            </a:r>
          </a:p>
        </p:txBody>
      </p:sp>
      <p:grpSp>
        <p:nvGrpSpPr>
          <p:cNvPr name="Group 38" id="38"/>
          <p:cNvGrpSpPr/>
          <p:nvPr/>
        </p:nvGrpSpPr>
        <p:grpSpPr>
          <a:xfrm rot="0">
            <a:off x="1001763" y="5254228"/>
            <a:ext cx="16284473" cy="539801"/>
            <a:chOff x="0" y="0"/>
            <a:chExt cx="21712631" cy="719734"/>
          </a:xfrm>
        </p:grpSpPr>
        <p:sp>
          <p:nvSpPr>
            <p:cNvPr name="Freeform 39" id="39"/>
            <p:cNvSpPr/>
            <p:nvPr/>
          </p:nvSpPr>
          <p:spPr>
            <a:xfrm flipH="false" flipV="false" rot="0">
              <a:off x="0" y="0"/>
              <a:ext cx="21712682" cy="719709"/>
            </a:xfrm>
            <a:custGeom>
              <a:avLst/>
              <a:gdLst/>
              <a:ahLst/>
              <a:cxnLst/>
              <a:rect r="r" b="b" t="t" l="l"/>
              <a:pathLst>
                <a:path h="719709" w="21712682">
                  <a:moveTo>
                    <a:pt x="0" y="0"/>
                  </a:moveTo>
                  <a:lnTo>
                    <a:pt x="21712682" y="0"/>
                  </a:lnTo>
                  <a:lnTo>
                    <a:pt x="21712682" y="719709"/>
                  </a:lnTo>
                  <a:lnTo>
                    <a:pt x="0" y="719709"/>
                  </a:lnTo>
                  <a:close/>
                </a:path>
              </a:pathLst>
            </a:custGeom>
            <a:solidFill>
              <a:srgbClr val="FFFFFF">
                <a:alpha val="0"/>
              </a:srgbClr>
            </a:solidFill>
          </p:spPr>
        </p:sp>
      </p:grpSp>
      <p:sp>
        <p:nvSpPr>
          <p:cNvPr name="TextBox 40" id="40"/>
          <p:cNvSpPr txBox="true"/>
          <p:nvPr/>
        </p:nvSpPr>
        <p:spPr>
          <a:xfrm rot="0">
            <a:off x="1211161" y="5331619"/>
            <a:ext cx="4073576" cy="346920"/>
          </a:xfrm>
          <a:prstGeom prst="rect">
            <a:avLst/>
          </a:prstGeom>
        </p:spPr>
        <p:txBody>
          <a:bodyPr anchor="t" rtlCol="false" tIns="0" lIns="0" bIns="0" rIns="0">
            <a:spAutoFit/>
          </a:bodyPr>
          <a:lstStyle/>
          <a:p>
            <a:pPr algn="l">
              <a:lnSpc>
                <a:spcPts val="2361"/>
              </a:lnSpc>
            </a:pPr>
            <a:r>
              <a:rPr lang="en-US" sz="1600" b="true">
                <a:solidFill>
                  <a:srgbClr val="333F70"/>
                </a:solidFill>
                <a:latin typeface="Open Sans Bold"/>
                <a:ea typeface="Open Sans Bold"/>
                <a:cs typeface="Open Sans Bold"/>
                <a:sym typeface="Open Sans Bold"/>
              </a:rPr>
              <a:t>Harsh Turning</a:t>
            </a:r>
          </a:p>
        </p:txBody>
      </p:sp>
      <p:sp>
        <p:nvSpPr>
          <p:cNvPr name="TextBox 41" id="41"/>
          <p:cNvSpPr txBox="true"/>
          <p:nvPr/>
        </p:nvSpPr>
        <p:spPr>
          <a:xfrm rot="0">
            <a:off x="4798371" y="5331619"/>
            <a:ext cx="13193020" cy="346920"/>
          </a:xfrm>
          <a:prstGeom prst="rect">
            <a:avLst/>
          </a:prstGeom>
        </p:spPr>
        <p:txBody>
          <a:bodyPr anchor="t" rtlCol="false" tIns="0" lIns="0" bIns="0" rIns="0">
            <a:spAutoFit/>
          </a:bodyPr>
          <a:lstStyle/>
          <a:p>
            <a:pPr algn="l">
              <a:lnSpc>
                <a:spcPts val="2361"/>
              </a:lnSpc>
            </a:pPr>
            <a:r>
              <a:rPr lang="en-US" sz="1600">
                <a:solidFill>
                  <a:srgbClr val="333F70"/>
                </a:solidFill>
                <a:latin typeface="Open Sans"/>
                <a:ea typeface="Open Sans"/>
                <a:cs typeface="Open Sans"/>
                <a:sym typeface="Open Sans"/>
              </a:rPr>
              <a:t>Z-axis rotational rate |Gz| &gt; </a:t>
            </a:r>
            <a:r>
              <a:rPr lang="en-US" sz="1600" b="true">
                <a:solidFill>
                  <a:srgbClr val="333F70"/>
                </a:solidFill>
                <a:latin typeface="Open Sans Bold"/>
                <a:ea typeface="Open Sans Bold"/>
                <a:cs typeface="Open Sans Bold"/>
                <a:sym typeface="Open Sans Bold"/>
              </a:rPr>
              <a:t>60°/s</a:t>
            </a:r>
          </a:p>
        </p:txBody>
      </p:sp>
      <p:grpSp>
        <p:nvGrpSpPr>
          <p:cNvPr name="Group 42" id="42"/>
          <p:cNvGrpSpPr/>
          <p:nvPr/>
        </p:nvGrpSpPr>
        <p:grpSpPr>
          <a:xfrm rot="0">
            <a:off x="841619" y="6002236"/>
            <a:ext cx="7357024" cy="3595240"/>
            <a:chOff x="0" y="0"/>
            <a:chExt cx="9809366" cy="4793653"/>
          </a:xfrm>
        </p:grpSpPr>
        <p:sp>
          <p:nvSpPr>
            <p:cNvPr name="Freeform 43" id="43"/>
            <p:cNvSpPr/>
            <p:nvPr/>
          </p:nvSpPr>
          <p:spPr>
            <a:xfrm flipH="false" flipV="false" rot="0">
              <a:off x="0" y="0"/>
              <a:ext cx="9809353" cy="4793615"/>
            </a:xfrm>
            <a:custGeom>
              <a:avLst/>
              <a:gdLst/>
              <a:ahLst/>
              <a:cxnLst/>
              <a:rect r="r" b="b" t="t" l="l"/>
              <a:pathLst>
                <a:path h="4793615" w="9809353">
                  <a:moveTo>
                    <a:pt x="0" y="200914"/>
                  </a:moveTo>
                  <a:cubicBezTo>
                    <a:pt x="0" y="89916"/>
                    <a:pt x="89916" y="0"/>
                    <a:pt x="200914" y="0"/>
                  </a:cubicBezTo>
                  <a:lnTo>
                    <a:pt x="9608439" y="0"/>
                  </a:lnTo>
                  <a:cubicBezTo>
                    <a:pt x="9719437" y="0"/>
                    <a:pt x="9809353" y="89916"/>
                    <a:pt x="9809353" y="200914"/>
                  </a:cubicBezTo>
                  <a:lnTo>
                    <a:pt x="9809353" y="4592701"/>
                  </a:lnTo>
                  <a:cubicBezTo>
                    <a:pt x="9809353" y="4703699"/>
                    <a:pt x="9719437" y="4793615"/>
                    <a:pt x="9608439" y="4793615"/>
                  </a:cubicBezTo>
                  <a:lnTo>
                    <a:pt x="200914" y="4793615"/>
                  </a:lnTo>
                  <a:cubicBezTo>
                    <a:pt x="89916" y="4793615"/>
                    <a:pt x="0" y="4703699"/>
                    <a:pt x="0" y="4592701"/>
                  </a:cubicBezTo>
                  <a:close/>
                </a:path>
              </a:pathLst>
            </a:custGeom>
            <a:solidFill>
              <a:srgbClr val="DDF8F2"/>
            </a:solidFill>
          </p:spPr>
        </p:sp>
      </p:grpSp>
      <p:sp>
        <p:nvSpPr>
          <p:cNvPr name="TextBox 44" id="44"/>
          <p:cNvSpPr txBox="true"/>
          <p:nvPr/>
        </p:nvSpPr>
        <p:spPr>
          <a:xfrm rot="0">
            <a:off x="1050874" y="6169219"/>
            <a:ext cx="5850884" cy="336499"/>
          </a:xfrm>
          <a:prstGeom prst="rect">
            <a:avLst/>
          </a:prstGeom>
        </p:spPr>
        <p:txBody>
          <a:bodyPr anchor="t" rtlCol="false" tIns="0" lIns="0" bIns="0" rIns="0">
            <a:spAutoFit/>
          </a:bodyPr>
          <a:lstStyle/>
          <a:p>
            <a:pPr algn="l">
              <a:lnSpc>
                <a:spcPts val="2496"/>
              </a:lnSpc>
            </a:pPr>
            <a:r>
              <a:rPr lang="en-US" sz="2000" b="true">
                <a:solidFill>
                  <a:srgbClr val="333F70"/>
                </a:solidFill>
                <a:latin typeface="Arimo Bold"/>
                <a:ea typeface="Arimo Bold"/>
                <a:cs typeface="Arimo Bold"/>
                <a:sym typeface="Arimo Bold"/>
              </a:rPr>
              <a:t>Dynamic Safe Distance Model</a:t>
            </a:r>
          </a:p>
        </p:txBody>
      </p:sp>
      <p:sp>
        <p:nvSpPr>
          <p:cNvPr name="TextBox 45" id="45"/>
          <p:cNvSpPr txBox="true"/>
          <p:nvPr/>
        </p:nvSpPr>
        <p:spPr>
          <a:xfrm rot="0">
            <a:off x="1050874" y="6644135"/>
            <a:ext cx="6938515" cy="964559"/>
          </a:xfrm>
          <a:prstGeom prst="rect">
            <a:avLst/>
          </a:prstGeom>
        </p:spPr>
        <p:txBody>
          <a:bodyPr anchor="t" rtlCol="false" tIns="0" lIns="0" bIns="0" rIns="0">
            <a:spAutoFit/>
          </a:bodyPr>
          <a:lstStyle/>
          <a:p>
            <a:pPr algn="l">
              <a:lnSpc>
                <a:spcPts val="2361"/>
              </a:lnSpc>
            </a:pPr>
            <a:r>
              <a:rPr lang="en-US" sz="1600">
                <a:solidFill>
                  <a:srgbClr val="333F70"/>
                </a:solidFill>
                <a:latin typeface="Open Sans"/>
                <a:ea typeface="Open Sans"/>
                <a:cs typeface="Open Sans"/>
                <a:sym typeface="Open Sans"/>
              </a:rPr>
              <a:t>The collision algorithm dynamically computes safe stopping distance based on real-time vehicle speed and assumed deceleration, providing adaptive protection rather than a static distance threshold.</a:t>
            </a:r>
          </a:p>
        </p:txBody>
      </p:sp>
      <p:grpSp>
        <p:nvGrpSpPr>
          <p:cNvPr name="Group 46" id="46"/>
          <p:cNvGrpSpPr/>
          <p:nvPr/>
        </p:nvGrpSpPr>
        <p:grpSpPr>
          <a:xfrm rot="0">
            <a:off x="8568033" y="6200927"/>
            <a:ext cx="8737102" cy="3197866"/>
            <a:chOff x="0" y="0"/>
            <a:chExt cx="11649469" cy="4263822"/>
          </a:xfrm>
        </p:grpSpPr>
        <p:sp>
          <p:nvSpPr>
            <p:cNvPr name="Freeform 47" id="47"/>
            <p:cNvSpPr/>
            <p:nvPr/>
          </p:nvSpPr>
          <p:spPr>
            <a:xfrm flipH="false" flipV="false" rot="0">
              <a:off x="0" y="0"/>
              <a:ext cx="11649456" cy="4263898"/>
            </a:xfrm>
            <a:custGeom>
              <a:avLst/>
              <a:gdLst/>
              <a:ahLst/>
              <a:cxnLst/>
              <a:rect r="r" b="b" t="t" l="l"/>
              <a:pathLst>
                <a:path h="4263898" w="11649456">
                  <a:moveTo>
                    <a:pt x="0" y="117221"/>
                  </a:moveTo>
                  <a:cubicBezTo>
                    <a:pt x="0" y="52451"/>
                    <a:pt x="52451" y="0"/>
                    <a:pt x="117221" y="0"/>
                  </a:cubicBezTo>
                  <a:lnTo>
                    <a:pt x="11532235" y="0"/>
                  </a:lnTo>
                  <a:cubicBezTo>
                    <a:pt x="11597005" y="0"/>
                    <a:pt x="11649456" y="52451"/>
                    <a:pt x="11649456" y="117221"/>
                  </a:cubicBezTo>
                  <a:lnTo>
                    <a:pt x="11649456" y="4146677"/>
                  </a:lnTo>
                  <a:cubicBezTo>
                    <a:pt x="11649456" y="4211447"/>
                    <a:pt x="11597005" y="4263898"/>
                    <a:pt x="11532235" y="4263898"/>
                  </a:cubicBezTo>
                  <a:lnTo>
                    <a:pt x="117221" y="4263898"/>
                  </a:lnTo>
                  <a:cubicBezTo>
                    <a:pt x="52451" y="4263898"/>
                    <a:pt x="0" y="4211447"/>
                    <a:pt x="0" y="4146677"/>
                  </a:cubicBezTo>
                  <a:close/>
                </a:path>
              </a:pathLst>
            </a:custGeom>
            <a:solidFill>
              <a:srgbClr val="F2F2F2"/>
            </a:solidFill>
          </p:spPr>
        </p:sp>
      </p:grpSp>
      <p:grpSp>
        <p:nvGrpSpPr>
          <p:cNvPr name="Group 48" id="48"/>
          <p:cNvGrpSpPr/>
          <p:nvPr/>
        </p:nvGrpSpPr>
        <p:grpSpPr>
          <a:xfrm rot="0">
            <a:off x="8557622" y="6200927"/>
            <a:ext cx="8757942" cy="3197866"/>
            <a:chOff x="0" y="0"/>
            <a:chExt cx="11677256" cy="4263822"/>
          </a:xfrm>
        </p:grpSpPr>
        <p:sp>
          <p:nvSpPr>
            <p:cNvPr name="Freeform 49" id="49"/>
            <p:cNvSpPr/>
            <p:nvPr/>
          </p:nvSpPr>
          <p:spPr>
            <a:xfrm flipH="false" flipV="false" rot="0">
              <a:off x="0" y="0"/>
              <a:ext cx="11677269" cy="4263898"/>
            </a:xfrm>
            <a:custGeom>
              <a:avLst/>
              <a:gdLst/>
              <a:ahLst/>
              <a:cxnLst/>
              <a:rect r="r" b="b" t="t" l="l"/>
              <a:pathLst>
                <a:path h="4263898" w="11677269">
                  <a:moveTo>
                    <a:pt x="0" y="41910"/>
                  </a:moveTo>
                  <a:cubicBezTo>
                    <a:pt x="0" y="18796"/>
                    <a:pt x="18796" y="0"/>
                    <a:pt x="41910" y="0"/>
                  </a:cubicBezTo>
                  <a:lnTo>
                    <a:pt x="11635359" y="0"/>
                  </a:lnTo>
                  <a:cubicBezTo>
                    <a:pt x="11658473" y="0"/>
                    <a:pt x="11677269" y="18796"/>
                    <a:pt x="11677269" y="41910"/>
                  </a:cubicBezTo>
                  <a:lnTo>
                    <a:pt x="11677269" y="4221988"/>
                  </a:lnTo>
                  <a:cubicBezTo>
                    <a:pt x="11677269" y="4245102"/>
                    <a:pt x="11658473" y="4263898"/>
                    <a:pt x="11635359" y="4263898"/>
                  </a:cubicBezTo>
                  <a:lnTo>
                    <a:pt x="41910" y="4263898"/>
                  </a:lnTo>
                  <a:cubicBezTo>
                    <a:pt x="18796" y="4263898"/>
                    <a:pt x="0" y="4245102"/>
                    <a:pt x="0" y="4221988"/>
                  </a:cubicBezTo>
                  <a:close/>
                </a:path>
              </a:pathLst>
            </a:custGeom>
            <a:solidFill>
              <a:srgbClr val="F2F2F2"/>
            </a:solidFill>
          </p:spPr>
        </p:sp>
      </p:grpSp>
      <p:sp>
        <p:nvSpPr>
          <p:cNvPr name="TextBox 50" id="50"/>
          <p:cNvSpPr txBox="true"/>
          <p:nvPr/>
        </p:nvSpPr>
        <p:spPr>
          <a:xfrm rot="0">
            <a:off x="8819255" y="6333973"/>
            <a:ext cx="8234658" cy="2855566"/>
          </a:xfrm>
          <a:prstGeom prst="rect">
            <a:avLst/>
          </a:prstGeom>
        </p:spPr>
        <p:txBody>
          <a:bodyPr anchor="t" rtlCol="false" tIns="0" lIns="0" bIns="0" rIns="0">
            <a:spAutoFit/>
          </a:bodyPr>
          <a:lstStyle/>
          <a:p>
            <a:pPr algn="l">
              <a:lnSpc>
                <a:spcPts val="2361"/>
              </a:lnSpc>
            </a:pPr>
            <a:r>
              <a:rPr lang="en-US" sz="1600">
                <a:solidFill>
                  <a:srgbClr val="D73A49"/>
                </a:solidFill>
                <a:latin typeface="Consolas"/>
                <a:ea typeface="Consolas"/>
                <a:cs typeface="Consolas"/>
                <a:sym typeface="Consolas"/>
              </a:rPr>
              <a:t>Reaction Distance = Speed × 1 s</a:t>
            </a:r>
          </a:p>
          <a:p>
            <a:pPr algn="l">
              <a:lnSpc>
                <a:spcPts val="2361"/>
              </a:lnSpc>
            </a:pPr>
          </a:p>
          <a:p>
            <a:pPr algn="l">
              <a:lnSpc>
                <a:spcPts val="2361"/>
              </a:lnSpc>
            </a:pPr>
            <a:r>
              <a:rPr lang="en-US" sz="1600">
                <a:solidFill>
                  <a:srgbClr val="D73A49"/>
                </a:solidFill>
                <a:latin typeface="Consolas"/>
                <a:ea typeface="Consolas"/>
                <a:cs typeface="Consolas"/>
                <a:sym typeface="Consolas"/>
              </a:rPr>
              <a:t>Braking Distance = V² / (2 × a)</a:t>
            </a:r>
          </a:p>
          <a:p>
            <a:pPr algn="l">
              <a:lnSpc>
                <a:spcPts val="2361"/>
              </a:lnSpc>
            </a:pPr>
          </a:p>
          <a:p>
            <a:pPr algn="l">
              <a:lnSpc>
                <a:spcPts val="2361"/>
              </a:lnSpc>
            </a:pPr>
            <a:r>
              <a:rPr lang="en-US" sz="1600">
                <a:solidFill>
                  <a:srgbClr val="D73A49"/>
                </a:solidFill>
                <a:latin typeface="Consolas"/>
                <a:ea typeface="Consolas"/>
                <a:cs typeface="Consolas"/>
                <a:sym typeface="Consolas"/>
              </a:rPr>
              <a:t>Safe Distance = Reaction Distance</a:t>
            </a:r>
          </a:p>
          <a:p>
            <a:pPr algn="l">
              <a:lnSpc>
                <a:spcPts val="2361"/>
              </a:lnSpc>
            </a:pPr>
            <a:r>
              <a:rPr lang="en-US" sz="1600">
                <a:solidFill>
                  <a:srgbClr val="D73A49"/>
                </a:solidFill>
                <a:latin typeface="Consolas"/>
                <a:ea typeface="Consolas"/>
                <a:cs typeface="Consolas"/>
                <a:sym typeface="Consolas"/>
              </a:rPr>
              <a:t> + Braking Distance</a:t>
            </a:r>
          </a:p>
          <a:p>
            <a:pPr algn="l">
              <a:lnSpc>
                <a:spcPts val="2361"/>
              </a:lnSpc>
            </a:pPr>
          </a:p>
          <a:p>
            <a:pPr algn="l">
              <a:lnSpc>
                <a:spcPts val="2361"/>
              </a:lnSpc>
            </a:pPr>
            <a:r>
              <a:rPr lang="en-US" sz="1600">
                <a:solidFill>
                  <a:srgbClr val="D73A49"/>
                </a:solidFill>
                <a:latin typeface="Consolas"/>
                <a:ea typeface="Consolas"/>
                <a:cs typeface="Consolas"/>
                <a:sym typeface="Consolas"/>
              </a:rPr>
              <a:t>Collision Alert when:</a:t>
            </a:r>
          </a:p>
          <a:p>
            <a:pPr algn="l">
              <a:lnSpc>
                <a:spcPts val="2361"/>
              </a:lnSpc>
            </a:pPr>
            <a:r>
              <a:rPr lang="en-US" sz="1600">
                <a:solidFill>
                  <a:srgbClr val="D73A49"/>
                </a:solidFill>
                <a:latin typeface="Consolas"/>
                <a:ea typeface="Consolas"/>
                <a:cs typeface="Consolas"/>
                <a:sym typeface="Consolas"/>
              </a:rPr>
              <a:t> Obstacle Distance &lt; Safe Distance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6F5E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92238" y="753961"/>
            <a:ext cx="5044526" cy="330546"/>
          </a:xfrm>
          <a:prstGeom prst="rect">
            <a:avLst/>
          </a:prstGeom>
        </p:spPr>
        <p:txBody>
          <a:bodyPr anchor="t" rtlCol="false" tIns="0" lIns="0" bIns="0" rIns="0">
            <a:spAutoFit/>
          </a:bodyPr>
          <a:lstStyle/>
          <a:p>
            <a:pPr algn="l">
              <a:lnSpc>
                <a:spcPts val="2496"/>
              </a:lnSpc>
            </a:pPr>
            <a:r>
              <a:rPr lang="en-US" sz="2000" b="true">
                <a:solidFill>
                  <a:srgbClr val="333F70"/>
                </a:solidFill>
                <a:latin typeface="Arimo Bold"/>
                <a:ea typeface="Arimo Bold"/>
                <a:cs typeface="Arimo Bold"/>
                <a:sym typeface="Arimo Bold"/>
              </a:rPr>
              <a:t>Implementation &amp; Testing</a:t>
            </a:r>
          </a:p>
        </p:txBody>
      </p:sp>
      <p:sp>
        <p:nvSpPr>
          <p:cNvPr name="TextBox 7" id="7"/>
          <p:cNvSpPr txBox="true"/>
          <p:nvPr/>
        </p:nvSpPr>
        <p:spPr>
          <a:xfrm rot="0">
            <a:off x="992238" y="1123950"/>
            <a:ext cx="6784772" cy="670474"/>
          </a:xfrm>
          <a:prstGeom prst="rect">
            <a:avLst/>
          </a:prstGeom>
        </p:spPr>
        <p:txBody>
          <a:bodyPr anchor="t" rtlCol="false" tIns="0" lIns="0" bIns="0" rIns="0">
            <a:spAutoFit/>
          </a:bodyPr>
          <a:lstStyle/>
          <a:p>
            <a:pPr algn="l">
              <a:lnSpc>
                <a:spcPts val="4992"/>
              </a:lnSpc>
            </a:pPr>
            <a:r>
              <a:rPr lang="en-US" sz="4000" b="true">
                <a:solidFill>
                  <a:srgbClr val="333F70"/>
                </a:solidFill>
                <a:latin typeface="Arimo Bold"/>
                <a:ea typeface="Arimo Bold"/>
                <a:cs typeface="Arimo Bold"/>
                <a:sym typeface="Arimo Bold"/>
              </a:rPr>
              <a:t>Validation Results</a:t>
            </a:r>
          </a:p>
        </p:txBody>
      </p:sp>
      <p:grpSp>
        <p:nvGrpSpPr>
          <p:cNvPr name="Group 8" id="8"/>
          <p:cNvGrpSpPr/>
          <p:nvPr/>
        </p:nvGrpSpPr>
        <p:grpSpPr>
          <a:xfrm rot="0">
            <a:off x="992238" y="2049513"/>
            <a:ext cx="410766" cy="256727"/>
            <a:chOff x="0" y="0"/>
            <a:chExt cx="547688" cy="342303"/>
          </a:xfrm>
        </p:grpSpPr>
        <p:sp>
          <p:nvSpPr>
            <p:cNvPr name="Freeform 9" id="9"/>
            <p:cNvSpPr/>
            <p:nvPr/>
          </p:nvSpPr>
          <p:spPr>
            <a:xfrm flipH="false" flipV="false" rot="0">
              <a:off x="0" y="0"/>
              <a:ext cx="547688" cy="342304"/>
            </a:xfrm>
            <a:custGeom>
              <a:avLst/>
              <a:gdLst/>
              <a:ahLst/>
              <a:cxnLst/>
              <a:rect r="r" b="b" t="t" l="l"/>
              <a:pathLst>
                <a:path h="342304" w="547688">
                  <a:moveTo>
                    <a:pt x="0" y="0"/>
                  </a:moveTo>
                  <a:lnTo>
                    <a:pt x="547688" y="0"/>
                  </a:lnTo>
                  <a:lnTo>
                    <a:pt x="547688" y="342304"/>
                  </a:lnTo>
                  <a:lnTo>
                    <a:pt x="0" y="342304"/>
                  </a:lnTo>
                  <a:close/>
                </a:path>
              </a:pathLst>
            </a:custGeom>
            <a:blipFill>
              <a:blip r:embed="rId3">
                <a:alphaModFix amt="0"/>
              </a:blip>
              <a:stretch>
                <a:fillRect l="-30189" t="0" r="-30189" b="0"/>
              </a:stretch>
            </a:blipFill>
          </p:spPr>
        </p:sp>
        <p:sp>
          <p:nvSpPr>
            <p:cNvPr name="TextBox 10" id="10"/>
            <p:cNvSpPr txBox="true"/>
            <p:nvPr/>
          </p:nvSpPr>
          <p:spPr>
            <a:xfrm>
              <a:off x="0" y="-19050"/>
              <a:ext cx="547688" cy="361353"/>
            </a:xfrm>
            <a:prstGeom prst="rect">
              <a:avLst/>
            </a:prstGeom>
          </p:spPr>
          <p:txBody>
            <a:bodyPr anchor="ctr" rtlCol="false" tIns="0" lIns="0" bIns="0" rIns="0"/>
            <a:lstStyle/>
            <a:p>
              <a:pPr algn="l">
                <a:lnSpc>
                  <a:spcPts val="1920"/>
                </a:lnSpc>
              </a:pPr>
              <a:r>
                <a:rPr lang="en-US" sz="1600">
                  <a:solidFill>
                    <a:srgbClr val="333F70"/>
                  </a:solidFill>
                  <a:latin typeface="Arimo"/>
                  <a:ea typeface="Arimo"/>
                  <a:cs typeface="Arimo"/>
                  <a:sym typeface="Arimo"/>
                </a:rPr>
                <a:t>01</a:t>
              </a:r>
            </a:p>
          </p:txBody>
        </p:sp>
      </p:grpSp>
      <p:grpSp>
        <p:nvGrpSpPr>
          <p:cNvPr name="Group 11" id="11"/>
          <p:cNvGrpSpPr/>
          <p:nvPr/>
        </p:nvGrpSpPr>
        <p:grpSpPr>
          <a:xfrm rot="0">
            <a:off x="992238" y="2370087"/>
            <a:ext cx="8066637" cy="28575"/>
            <a:chOff x="0" y="0"/>
            <a:chExt cx="10755516" cy="38100"/>
          </a:xfrm>
        </p:grpSpPr>
        <p:sp>
          <p:nvSpPr>
            <p:cNvPr name="Freeform 12" id="12"/>
            <p:cNvSpPr/>
            <p:nvPr/>
          </p:nvSpPr>
          <p:spPr>
            <a:xfrm flipH="false" flipV="false" rot="0">
              <a:off x="0" y="0"/>
              <a:ext cx="10755503" cy="38100"/>
            </a:xfrm>
            <a:custGeom>
              <a:avLst/>
              <a:gdLst/>
              <a:ahLst/>
              <a:cxnLst/>
              <a:rect r="r" b="b" t="t" l="l"/>
              <a:pathLst>
                <a:path h="38100" w="10755503">
                  <a:moveTo>
                    <a:pt x="0" y="0"/>
                  </a:moveTo>
                  <a:lnTo>
                    <a:pt x="10755503" y="0"/>
                  </a:lnTo>
                  <a:lnTo>
                    <a:pt x="10755503" y="38100"/>
                  </a:lnTo>
                  <a:lnTo>
                    <a:pt x="0" y="38100"/>
                  </a:lnTo>
                  <a:close/>
                </a:path>
              </a:pathLst>
            </a:custGeom>
            <a:solidFill>
              <a:srgbClr val="26A688"/>
            </a:solidFill>
          </p:spPr>
        </p:sp>
      </p:grpSp>
      <p:sp>
        <p:nvSpPr>
          <p:cNvPr name="TextBox 13" id="13"/>
          <p:cNvSpPr txBox="true"/>
          <p:nvPr/>
        </p:nvSpPr>
        <p:spPr>
          <a:xfrm rot="0">
            <a:off x="992238" y="2520401"/>
            <a:ext cx="3680222" cy="330546"/>
          </a:xfrm>
          <a:prstGeom prst="rect">
            <a:avLst/>
          </a:prstGeom>
        </p:spPr>
        <p:txBody>
          <a:bodyPr anchor="t" rtlCol="false" tIns="0" lIns="0" bIns="0" rIns="0">
            <a:spAutoFit/>
          </a:bodyPr>
          <a:lstStyle/>
          <a:p>
            <a:pPr algn="l">
              <a:lnSpc>
                <a:spcPts val="2496"/>
              </a:lnSpc>
            </a:pPr>
            <a:r>
              <a:rPr lang="en-US" sz="2000" b="true">
                <a:solidFill>
                  <a:srgbClr val="333F70"/>
                </a:solidFill>
                <a:latin typeface="Arimo Bold"/>
                <a:ea typeface="Arimo Bold"/>
                <a:cs typeface="Arimo Bold"/>
                <a:sym typeface="Arimo Bold"/>
              </a:rPr>
              <a:t>Firmware Architecture</a:t>
            </a:r>
          </a:p>
        </p:txBody>
      </p:sp>
      <p:sp>
        <p:nvSpPr>
          <p:cNvPr name="TextBox 14" id="14"/>
          <p:cNvSpPr txBox="true"/>
          <p:nvPr/>
        </p:nvSpPr>
        <p:spPr>
          <a:xfrm rot="0">
            <a:off x="992238" y="2914802"/>
            <a:ext cx="8066637" cy="575005"/>
          </a:xfrm>
          <a:prstGeom prst="rect">
            <a:avLst/>
          </a:prstGeom>
        </p:spPr>
        <p:txBody>
          <a:bodyPr anchor="t" rtlCol="false" tIns="0" lIns="0" bIns="0" rIns="0">
            <a:spAutoFit/>
          </a:bodyPr>
          <a:lstStyle/>
          <a:p>
            <a:pPr algn="l">
              <a:lnSpc>
                <a:spcPts val="2342"/>
              </a:lnSpc>
            </a:pPr>
            <a:r>
              <a:rPr lang="en-US" sz="1600">
                <a:solidFill>
                  <a:srgbClr val="333F70"/>
                </a:solidFill>
                <a:latin typeface="Open Sans"/>
                <a:ea typeface="Open Sans"/>
                <a:cs typeface="Open Sans"/>
                <a:sym typeface="Open Sans"/>
              </a:rPr>
              <a:t>Embedded C with STM32 HAL, GPS UART, I²C IMU, ultrasonic timer, and GPIO handling</a:t>
            </a:r>
          </a:p>
        </p:txBody>
      </p:sp>
      <p:grpSp>
        <p:nvGrpSpPr>
          <p:cNvPr name="Group 15" id="15"/>
          <p:cNvGrpSpPr/>
          <p:nvPr/>
        </p:nvGrpSpPr>
        <p:grpSpPr>
          <a:xfrm rot="0">
            <a:off x="9228982" y="2049513"/>
            <a:ext cx="410766" cy="256727"/>
            <a:chOff x="0" y="0"/>
            <a:chExt cx="547688" cy="342303"/>
          </a:xfrm>
        </p:grpSpPr>
        <p:sp>
          <p:nvSpPr>
            <p:cNvPr name="Freeform 16" id="16"/>
            <p:cNvSpPr/>
            <p:nvPr/>
          </p:nvSpPr>
          <p:spPr>
            <a:xfrm flipH="false" flipV="false" rot="0">
              <a:off x="0" y="0"/>
              <a:ext cx="547688" cy="342304"/>
            </a:xfrm>
            <a:custGeom>
              <a:avLst/>
              <a:gdLst/>
              <a:ahLst/>
              <a:cxnLst/>
              <a:rect r="r" b="b" t="t" l="l"/>
              <a:pathLst>
                <a:path h="342304" w="547688">
                  <a:moveTo>
                    <a:pt x="0" y="0"/>
                  </a:moveTo>
                  <a:lnTo>
                    <a:pt x="547688" y="0"/>
                  </a:lnTo>
                  <a:lnTo>
                    <a:pt x="547688" y="342304"/>
                  </a:lnTo>
                  <a:lnTo>
                    <a:pt x="0" y="342304"/>
                  </a:lnTo>
                  <a:close/>
                </a:path>
              </a:pathLst>
            </a:custGeom>
            <a:blipFill>
              <a:blip r:embed="rId3">
                <a:alphaModFix amt="0"/>
              </a:blip>
              <a:stretch>
                <a:fillRect l="-30189" t="0" r="-30189" b="0"/>
              </a:stretch>
            </a:blipFill>
          </p:spPr>
        </p:sp>
        <p:sp>
          <p:nvSpPr>
            <p:cNvPr name="TextBox 17" id="17"/>
            <p:cNvSpPr txBox="true"/>
            <p:nvPr/>
          </p:nvSpPr>
          <p:spPr>
            <a:xfrm>
              <a:off x="0" y="-19050"/>
              <a:ext cx="547688" cy="361353"/>
            </a:xfrm>
            <a:prstGeom prst="rect">
              <a:avLst/>
            </a:prstGeom>
          </p:spPr>
          <p:txBody>
            <a:bodyPr anchor="ctr" rtlCol="false" tIns="0" lIns="0" bIns="0" rIns="0"/>
            <a:lstStyle/>
            <a:p>
              <a:pPr algn="l">
                <a:lnSpc>
                  <a:spcPts val="1920"/>
                </a:lnSpc>
              </a:pPr>
              <a:r>
                <a:rPr lang="en-US" sz="1600">
                  <a:solidFill>
                    <a:srgbClr val="333F70"/>
                  </a:solidFill>
                  <a:latin typeface="Arimo"/>
                  <a:ea typeface="Arimo"/>
                  <a:cs typeface="Arimo"/>
                  <a:sym typeface="Arimo"/>
                </a:rPr>
                <a:t>02</a:t>
              </a:r>
            </a:p>
          </p:txBody>
        </p:sp>
      </p:grpSp>
      <p:grpSp>
        <p:nvGrpSpPr>
          <p:cNvPr name="Group 18" id="18"/>
          <p:cNvGrpSpPr/>
          <p:nvPr/>
        </p:nvGrpSpPr>
        <p:grpSpPr>
          <a:xfrm rot="0">
            <a:off x="9228982" y="2370087"/>
            <a:ext cx="8066780" cy="28575"/>
            <a:chOff x="0" y="0"/>
            <a:chExt cx="10755706" cy="38100"/>
          </a:xfrm>
        </p:grpSpPr>
        <p:sp>
          <p:nvSpPr>
            <p:cNvPr name="Freeform 19" id="19"/>
            <p:cNvSpPr/>
            <p:nvPr/>
          </p:nvSpPr>
          <p:spPr>
            <a:xfrm flipH="false" flipV="false" rot="0">
              <a:off x="0" y="0"/>
              <a:ext cx="10755757" cy="38100"/>
            </a:xfrm>
            <a:custGeom>
              <a:avLst/>
              <a:gdLst/>
              <a:ahLst/>
              <a:cxnLst/>
              <a:rect r="r" b="b" t="t" l="l"/>
              <a:pathLst>
                <a:path h="38100" w="10755757">
                  <a:moveTo>
                    <a:pt x="0" y="0"/>
                  </a:moveTo>
                  <a:lnTo>
                    <a:pt x="10755757" y="0"/>
                  </a:lnTo>
                  <a:lnTo>
                    <a:pt x="10755757" y="38100"/>
                  </a:lnTo>
                  <a:lnTo>
                    <a:pt x="0" y="38100"/>
                  </a:lnTo>
                  <a:close/>
                </a:path>
              </a:pathLst>
            </a:custGeom>
            <a:solidFill>
              <a:srgbClr val="26A688"/>
            </a:solidFill>
          </p:spPr>
        </p:sp>
      </p:grpSp>
      <p:sp>
        <p:nvSpPr>
          <p:cNvPr name="TextBox 20" id="20"/>
          <p:cNvSpPr txBox="true"/>
          <p:nvPr/>
        </p:nvSpPr>
        <p:spPr>
          <a:xfrm rot="0">
            <a:off x="9228982" y="2520401"/>
            <a:ext cx="3792741" cy="330546"/>
          </a:xfrm>
          <a:prstGeom prst="rect">
            <a:avLst/>
          </a:prstGeom>
        </p:spPr>
        <p:txBody>
          <a:bodyPr anchor="t" rtlCol="false" tIns="0" lIns="0" bIns="0" rIns="0">
            <a:spAutoFit/>
          </a:bodyPr>
          <a:lstStyle/>
          <a:p>
            <a:pPr algn="l">
              <a:lnSpc>
                <a:spcPts val="2496"/>
              </a:lnSpc>
            </a:pPr>
            <a:r>
              <a:rPr lang="en-US" sz="2000" b="true">
                <a:solidFill>
                  <a:srgbClr val="333F70"/>
                </a:solidFill>
                <a:latin typeface="Arimo Bold"/>
                <a:ea typeface="Arimo Bold"/>
                <a:cs typeface="Arimo Bold"/>
                <a:sym typeface="Arimo Bold"/>
              </a:rPr>
              <a:t>Sensor Communication</a:t>
            </a:r>
          </a:p>
        </p:txBody>
      </p:sp>
      <p:sp>
        <p:nvSpPr>
          <p:cNvPr name="TextBox 21" id="21"/>
          <p:cNvSpPr txBox="true"/>
          <p:nvPr/>
        </p:nvSpPr>
        <p:spPr>
          <a:xfrm rot="0">
            <a:off x="9228982" y="2914802"/>
            <a:ext cx="8066780" cy="638766"/>
          </a:xfrm>
          <a:prstGeom prst="rect">
            <a:avLst/>
          </a:prstGeom>
        </p:spPr>
        <p:txBody>
          <a:bodyPr anchor="t" rtlCol="false" tIns="0" lIns="0" bIns="0" rIns="0">
            <a:spAutoFit/>
          </a:bodyPr>
          <a:lstStyle/>
          <a:p>
            <a:pPr algn="l">
              <a:lnSpc>
                <a:spcPts val="2342"/>
              </a:lnSpc>
            </a:pPr>
            <a:r>
              <a:rPr lang="en-US" sz="1600">
                <a:solidFill>
                  <a:srgbClr val="333F70"/>
                </a:solidFill>
                <a:latin typeface="Open Sans"/>
                <a:ea typeface="Open Sans"/>
                <a:cs typeface="Open Sans"/>
                <a:sym typeface="Open Sans"/>
              </a:rPr>
              <a:t>UART GPS NMEA parsing with DMA, I²C MPU6050 register read/write, timer-capture ultrasonic echo measurement</a:t>
            </a:r>
          </a:p>
        </p:txBody>
      </p:sp>
      <p:grpSp>
        <p:nvGrpSpPr>
          <p:cNvPr name="Group 22" id="22"/>
          <p:cNvGrpSpPr/>
          <p:nvPr/>
        </p:nvGrpSpPr>
        <p:grpSpPr>
          <a:xfrm rot="0">
            <a:off x="992238" y="3877713"/>
            <a:ext cx="410766" cy="256727"/>
            <a:chOff x="0" y="0"/>
            <a:chExt cx="547688" cy="342303"/>
          </a:xfrm>
        </p:grpSpPr>
        <p:sp>
          <p:nvSpPr>
            <p:cNvPr name="Freeform 23" id="23"/>
            <p:cNvSpPr/>
            <p:nvPr/>
          </p:nvSpPr>
          <p:spPr>
            <a:xfrm flipH="false" flipV="false" rot="0">
              <a:off x="0" y="0"/>
              <a:ext cx="547688" cy="342304"/>
            </a:xfrm>
            <a:custGeom>
              <a:avLst/>
              <a:gdLst/>
              <a:ahLst/>
              <a:cxnLst/>
              <a:rect r="r" b="b" t="t" l="l"/>
              <a:pathLst>
                <a:path h="342304" w="547688">
                  <a:moveTo>
                    <a:pt x="0" y="0"/>
                  </a:moveTo>
                  <a:lnTo>
                    <a:pt x="547688" y="0"/>
                  </a:lnTo>
                  <a:lnTo>
                    <a:pt x="547688" y="342304"/>
                  </a:lnTo>
                  <a:lnTo>
                    <a:pt x="0" y="342304"/>
                  </a:lnTo>
                  <a:close/>
                </a:path>
              </a:pathLst>
            </a:custGeom>
            <a:blipFill>
              <a:blip r:embed="rId3">
                <a:alphaModFix amt="0"/>
              </a:blip>
              <a:stretch>
                <a:fillRect l="-30189" t="0" r="-30189" b="0"/>
              </a:stretch>
            </a:blipFill>
          </p:spPr>
        </p:sp>
        <p:sp>
          <p:nvSpPr>
            <p:cNvPr name="TextBox 24" id="24"/>
            <p:cNvSpPr txBox="true"/>
            <p:nvPr/>
          </p:nvSpPr>
          <p:spPr>
            <a:xfrm>
              <a:off x="0" y="-19050"/>
              <a:ext cx="547688" cy="361353"/>
            </a:xfrm>
            <a:prstGeom prst="rect">
              <a:avLst/>
            </a:prstGeom>
          </p:spPr>
          <p:txBody>
            <a:bodyPr anchor="ctr" rtlCol="false" tIns="0" lIns="0" bIns="0" rIns="0"/>
            <a:lstStyle/>
            <a:p>
              <a:pPr algn="l">
                <a:lnSpc>
                  <a:spcPts val="1920"/>
                </a:lnSpc>
              </a:pPr>
              <a:r>
                <a:rPr lang="en-US" sz="1600">
                  <a:solidFill>
                    <a:srgbClr val="333F70"/>
                  </a:solidFill>
                  <a:latin typeface="Arimo"/>
                  <a:ea typeface="Arimo"/>
                  <a:cs typeface="Arimo"/>
                  <a:sym typeface="Arimo"/>
                </a:rPr>
                <a:t>03</a:t>
              </a:r>
            </a:p>
          </p:txBody>
        </p:sp>
      </p:grpSp>
      <p:grpSp>
        <p:nvGrpSpPr>
          <p:cNvPr name="Group 25" id="25"/>
          <p:cNvGrpSpPr/>
          <p:nvPr/>
        </p:nvGrpSpPr>
        <p:grpSpPr>
          <a:xfrm rot="0">
            <a:off x="992238" y="4198296"/>
            <a:ext cx="8066637" cy="28575"/>
            <a:chOff x="0" y="0"/>
            <a:chExt cx="10755516" cy="38100"/>
          </a:xfrm>
        </p:grpSpPr>
        <p:sp>
          <p:nvSpPr>
            <p:cNvPr name="Freeform 26" id="26"/>
            <p:cNvSpPr/>
            <p:nvPr/>
          </p:nvSpPr>
          <p:spPr>
            <a:xfrm flipH="false" flipV="false" rot="0">
              <a:off x="0" y="0"/>
              <a:ext cx="10755503" cy="38100"/>
            </a:xfrm>
            <a:custGeom>
              <a:avLst/>
              <a:gdLst/>
              <a:ahLst/>
              <a:cxnLst/>
              <a:rect r="r" b="b" t="t" l="l"/>
              <a:pathLst>
                <a:path h="38100" w="10755503">
                  <a:moveTo>
                    <a:pt x="0" y="0"/>
                  </a:moveTo>
                  <a:lnTo>
                    <a:pt x="10755503" y="0"/>
                  </a:lnTo>
                  <a:lnTo>
                    <a:pt x="10755503" y="38100"/>
                  </a:lnTo>
                  <a:lnTo>
                    <a:pt x="0" y="38100"/>
                  </a:lnTo>
                  <a:close/>
                </a:path>
              </a:pathLst>
            </a:custGeom>
            <a:solidFill>
              <a:srgbClr val="26A688"/>
            </a:solidFill>
          </p:spPr>
        </p:sp>
      </p:grpSp>
      <p:sp>
        <p:nvSpPr>
          <p:cNvPr name="TextBox 27" id="27"/>
          <p:cNvSpPr txBox="true"/>
          <p:nvPr/>
        </p:nvSpPr>
        <p:spPr>
          <a:xfrm rot="0">
            <a:off x="992238" y="4348610"/>
            <a:ext cx="3941416" cy="330546"/>
          </a:xfrm>
          <a:prstGeom prst="rect">
            <a:avLst/>
          </a:prstGeom>
        </p:spPr>
        <p:txBody>
          <a:bodyPr anchor="t" rtlCol="false" tIns="0" lIns="0" bIns="0" rIns="0">
            <a:spAutoFit/>
          </a:bodyPr>
          <a:lstStyle/>
          <a:p>
            <a:pPr algn="l">
              <a:lnSpc>
                <a:spcPts val="2496"/>
              </a:lnSpc>
            </a:pPr>
            <a:r>
              <a:rPr lang="en-US" sz="2000" b="true">
                <a:solidFill>
                  <a:srgbClr val="333F70"/>
                </a:solidFill>
                <a:latin typeface="Arimo Bold"/>
                <a:ea typeface="Arimo Bold"/>
                <a:cs typeface="Arimo Bold"/>
                <a:sym typeface="Arimo Bold"/>
              </a:rPr>
              <a:t>Real-Time Decision Logic</a:t>
            </a:r>
          </a:p>
        </p:txBody>
      </p:sp>
      <p:sp>
        <p:nvSpPr>
          <p:cNvPr name="TextBox 28" id="28"/>
          <p:cNvSpPr txBox="true"/>
          <p:nvPr/>
        </p:nvSpPr>
        <p:spPr>
          <a:xfrm rot="0">
            <a:off x="992238" y="4743002"/>
            <a:ext cx="8066637" cy="575005"/>
          </a:xfrm>
          <a:prstGeom prst="rect">
            <a:avLst/>
          </a:prstGeom>
        </p:spPr>
        <p:txBody>
          <a:bodyPr anchor="t" rtlCol="false" tIns="0" lIns="0" bIns="0" rIns="0">
            <a:spAutoFit/>
          </a:bodyPr>
          <a:lstStyle/>
          <a:p>
            <a:pPr algn="l">
              <a:lnSpc>
                <a:spcPts val="2342"/>
              </a:lnSpc>
            </a:pPr>
            <a:r>
              <a:rPr lang="en-US" sz="1600">
                <a:solidFill>
                  <a:srgbClr val="333F70"/>
                </a:solidFill>
                <a:latin typeface="Open Sans"/>
                <a:ea typeface="Open Sans"/>
                <a:cs typeface="Open Sans"/>
                <a:sym typeface="Open Sans"/>
              </a:rPr>
              <a:t>Interrupt-driven drowsiness timer, threshold comparison, dynamic safe distance calculation, prioritized alert generation</a:t>
            </a:r>
          </a:p>
        </p:txBody>
      </p:sp>
      <p:grpSp>
        <p:nvGrpSpPr>
          <p:cNvPr name="Group 29" id="29"/>
          <p:cNvGrpSpPr/>
          <p:nvPr/>
        </p:nvGrpSpPr>
        <p:grpSpPr>
          <a:xfrm rot="0">
            <a:off x="9228982" y="3877713"/>
            <a:ext cx="410766" cy="256727"/>
            <a:chOff x="0" y="0"/>
            <a:chExt cx="547688" cy="342303"/>
          </a:xfrm>
        </p:grpSpPr>
        <p:sp>
          <p:nvSpPr>
            <p:cNvPr name="Freeform 30" id="30"/>
            <p:cNvSpPr/>
            <p:nvPr/>
          </p:nvSpPr>
          <p:spPr>
            <a:xfrm flipH="false" flipV="false" rot="0">
              <a:off x="0" y="0"/>
              <a:ext cx="547688" cy="342304"/>
            </a:xfrm>
            <a:custGeom>
              <a:avLst/>
              <a:gdLst/>
              <a:ahLst/>
              <a:cxnLst/>
              <a:rect r="r" b="b" t="t" l="l"/>
              <a:pathLst>
                <a:path h="342304" w="547688">
                  <a:moveTo>
                    <a:pt x="0" y="0"/>
                  </a:moveTo>
                  <a:lnTo>
                    <a:pt x="547688" y="0"/>
                  </a:lnTo>
                  <a:lnTo>
                    <a:pt x="547688" y="342304"/>
                  </a:lnTo>
                  <a:lnTo>
                    <a:pt x="0" y="342304"/>
                  </a:lnTo>
                  <a:close/>
                </a:path>
              </a:pathLst>
            </a:custGeom>
            <a:blipFill>
              <a:blip r:embed="rId3">
                <a:alphaModFix amt="0"/>
              </a:blip>
              <a:stretch>
                <a:fillRect l="-30189" t="0" r="-30189" b="0"/>
              </a:stretch>
            </a:blipFill>
          </p:spPr>
        </p:sp>
        <p:sp>
          <p:nvSpPr>
            <p:cNvPr name="TextBox 31" id="31"/>
            <p:cNvSpPr txBox="true"/>
            <p:nvPr/>
          </p:nvSpPr>
          <p:spPr>
            <a:xfrm>
              <a:off x="0" y="-19050"/>
              <a:ext cx="547688" cy="361353"/>
            </a:xfrm>
            <a:prstGeom prst="rect">
              <a:avLst/>
            </a:prstGeom>
          </p:spPr>
          <p:txBody>
            <a:bodyPr anchor="ctr" rtlCol="false" tIns="0" lIns="0" bIns="0" rIns="0"/>
            <a:lstStyle/>
            <a:p>
              <a:pPr algn="l">
                <a:lnSpc>
                  <a:spcPts val="1920"/>
                </a:lnSpc>
              </a:pPr>
              <a:r>
                <a:rPr lang="en-US" sz="1600">
                  <a:solidFill>
                    <a:srgbClr val="333F70"/>
                  </a:solidFill>
                  <a:latin typeface="Arimo"/>
                  <a:ea typeface="Arimo"/>
                  <a:cs typeface="Arimo"/>
                  <a:sym typeface="Arimo"/>
                </a:rPr>
                <a:t>04</a:t>
              </a:r>
            </a:p>
          </p:txBody>
        </p:sp>
      </p:grpSp>
      <p:grpSp>
        <p:nvGrpSpPr>
          <p:cNvPr name="Group 32" id="32"/>
          <p:cNvGrpSpPr/>
          <p:nvPr/>
        </p:nvGrpSpPr>
        <p:grpSpPr>
          <a:xfrm rot="0">
            <a:off x="9228982" y="4198296"/>
            <a:ext cx="8066780" cy="28575"/>
            <a:chOff x="0" y="0"/>
            <a:chExt cx="10755706" cy="38100"/>
          </a:xfrm>
        </p:grpSpPr>
        <p:sp>
          <p:nvSpPr>
            <p:cNvPr name="Freeform 33" id="33"/>
            <p:cNvSpPr/>
            <p:nvPr/>
          </p:nvSpPr>
          <p:spPr>
            <a:xfrm flipH="false" flipV="false" rot="0">
              <a:off x="0" y="0"/>
              <a:ext cx="10755757" cy="38100"/>
            </a:xfrm>
            <a:custGeom>
              <a:avLst/>
              <a:gdLst/>
              <a:ahLst/>
              <a:cxnLst/>
              <a:rect r="r" b="b" t="t" l="l"/>
              <a:pathLst>
                <a:path h="38100" w="10755757">
                  <a:moveTo>
                    <a:pt x="0" y="0"/>
                  </a:moveTo>
                  <a:lnTo>
                    <a:pt x="10755757" y="0"/>
                  </a:lnTo>
                  <a:lnTo>
                    <a:pt x="10755757" y="38100"/>
                  </a:lnTo>
                  <a:lnTo>
                    <a:pt x="0" y="38100"/>
                  </a:lnTo>
                  <a:close/>
                </a:path>
              </a:pathLst>
            </a:custGeom>
            <a:solidFill>
              <a:srgbClr val="26A688"/>
            </a:solidFill>
          </p:spPr>
        </p:sp>
      </p:grpSp>
      <p:sp>
        <p:nvSpPr>
          <p:cNvPr name="TextBox 34" id="34"/>
          <p:cNvSpPr txBox="true"/>
          <p:nvPr/>
        </p:nvSpPr>
        <p:spPr>
          <a:xfrm rot="0">
            <a:off x="9228982" y="4348610"/>
            <a:ext cx="3906145" cy="330546"/>
          </a:xfrm>
          <a:prstGeom prst="rect">
            <a:avLst/>
          </a:prstGeom>
        </p:spPr>
        <p:txBody>
          <a:bodyPr anchor="t" rtlCol="false" tIns="0" lIns="0" bIns="0" rIns="0">
            <a:spAutoFit/>
          </a:bodyPr>
          <a:lstStyle/>
          <a:p>
            <a:pPr algn="l">
              <a:lnSpc>
                <a:spcPts val="2496"/>
              </a:lnSpc>
            </a:pPr>
            <a:r>
              <a:rPr lang="en-US" sz="2000" b="true">
                <a:solidFill>
                  <a:srgbClr val="333F70"/>
                </a:solidFill>
                <a:latin typeface="Arimo Bold"/>
                <a:ea typeface="Arimo Bold"/>
                <a:cs typeface="Arimo Bold"/>
                <a:sym typeface="Arimo Bold"/>
              </a:rPr>
              <a:t>Validation &amp; Verification</a:t>
            </a:r>
          </a:p>
        </p:txBody>
      </p:sp>
      <p:sp>
        <p:nvSpPr>
          <p:cNvPr name="TextBox 35" id="35"/>
          <p:cNvSpPr txBox="true"/>
          <p:nvPr/>
        </p:nvSpPr>
        <p:spPr>
          <a:xfrm rot="0">
            <a:off x="9228982" y="4743002"/>
            <a:ext cx="8066780" cy="638766"/>
          </a:xfrm>
          <a:prstGeom prst="rect">
            <a:avLst/>
          </a:prstGeom>
        </p:spPr>
        <p:txBody>
          <a:bodyPr anchor="t" rtlCol="false" tIns="0" lIns="0" bIns="0" rIns="0">
            <a:spAutoFit/>
          </a:bodyPr>
          <a:lstStyle/>
          <a:p>
            <a:pPr algn="l">
              <a:lnSpc>
                <a:spcPts val="2342"/>
              </a:lnSpc>
            </a:pPr>
            <a:r>
              <a:rPr lang="en-US" sz="1600">
                <a:solidFill>
                  <a:srgbClr val="333F70"/>
                </a:solidFill>
                <a:latin typeface="Open Sans"/>
                <a:ea typeface="Open Sans"/>
                <a:cs typeface="Open Sans"/>
                <a:sym typeface="Open Sans"/>
              </a:rPr>
              <a:t>Systematic testing of each safety scenario with expected outcomes verified against specifications</a:t>
            </a:r>
          </a:p>
        </p:txBody>
      </p:sp>
      <p:grpSp>
        <p:nvGrpSpPr>
          <p:cNvPr name="Group 36" id="36"/>
          <p:cNvGrpSpPr/>
          <p:nvPr/>
        </p:nvGrpSpPr>
        <p:grpSpPr>
          <a:xfrm rot="0">
            <a:off x="987476" y="5722439"/>
            <a:ext cx="16313048" cy="3805838"/>
            <a:chOff x="0" y="0"/>
            <a:chExt cx="21750731" cy="5074450"/>
          </a:xfrm>
        </p:grpSpPr>
        <p:sp>
          <p:nvSpPr>
            <p:cNvPr name="Freeform 37" id="37"/>
            <p:cNvSpPr/>
            <p:nvPr/>
          </p:nvSpPr>
          <p:spPr>
            <a:xfrm flipH="false" flipV="false" rot="0">
              <a:off x="0" y="0"/>
              <a:ext cx="21750654" cy="5074412"/>
            </a:xfrm>
            <a:custGeom>
              <a:avLst/>
              <a:gdLst/>
              <a:ahLst/>
              <a:cxnLst/>
              <a:rect r="r" b="b" t="t" l="l"/>
              <a:pathLst>
                <a:path h="5074412" w="21750654">
                  <a:moveTo>
                    <a:pt x="0" y="115316"/>
                  </a:moveTo>
                  <a:cubicBezTo>
                    <a:pt x="0" y="51689"/>
                    <a:pt x="51689" y="0"/>
                    <a:pt x="115316" y="0"/>
                  </a:cubicBezTo>
                  <a:lnTo>
                    <a:pt x="21635338" y="0"/>
                  </a:lnTo>
                  <a:cubicBezTo>
                    <a:pt x="21699093" y="0"/>
                    <a:pt x="21750654" y="51689"/>
                    <a:pt x="21750654" y="115316"/>
                  </a:cubicBezTo>
                  <a:lnTo>
                    <a:pt x="21750654" y="4959096"/>
                  </a:lnTo>
                  <a:cubicBezTo>
                    <a:pt x="21750654" y="5022850"/>
                    <a:pt x="21698965" y="5074412"/>
                    <a:pt x="21635338" y="5074412"/>
                  </a:cubicBezTo>
                  <a:lnTo>
                    <a:pt x="115316" y="5074412"/>
                  </a:lnTo>
                  <a:cubicBezTo>
                    <a:pt x="51562" y="5074412"/>
                    <a:pt x="0" y="5022723"/>
                    <a:pt x="0" y="4959096"/>
                  </a:cubicBezTo>
                  <a:close/>
                </a:path>
              </a:pathLst>
            </a:custGeom>
            <a:blipFill>
              <a:blip r:embed="rId3">
                <a:alphaModFix amt="0"/>
              </a:blip>
              <a:stretch>
                <a:fillRect l="0" t="-33519" r="0" b="-33520"/>
              </a:stretch>
            </a:blipFill>
            <a:ln w="9526" cap="sq">
              <a:solidFill>
                <a:srgbClr val="000000"/>
              </a:solidFill>
              <a:prstDash val="solid"/>
              <a:miter/>
            </a:ln>
          </p:spPr>
        </p:sp>
      </p:grpSp>
      <p:grpSp>
        <p:nvGrpSpPr>
          <p:cNvPr name="Group 38" id="38"/>
          <p:cNvGrpSpPr/>
          <p:nvPr/>
        </p:nvGrpSpPr>
        <p:grpSpPr>
          <a:xfrm rot="0">
            <a:off x="1001906" y="5736727"/>
            <a:ext cx="8142237" cy="528037"/>
            <a:chOff x="0" y="0"/>
            <a:chExt cx="10856316" cy="704050"/>
          </a:xfrm>
        </p:grpSpPr>
        <p:sp>
          <p:nvSpPr>
            <p:cNvPr name="Freeform 39" id="39"/>
            <p:cNvSpPr/>
            <p:nvPr/>
          </p:nvSpPr>
          <p:spPr>
            <a:xfrm flipH="false" flipV="false" rot="0">
              <a:off x="0" y="0"/>
              <a:ext cx="10856341" cy="704088"/>
            </a:xfrm>
            <a:custGeom>
              <a:avLst/>
              <a:gdLst/>
              <a:ahLst/>
              <a:cxnLst/>
              <a:rect r="r" b="b" t="t" l="l"/>
              <a:pathLst>
                <a:path h="704088" w="10856341">
                  <a:moveTo>
                    <a:pt x="0" y="0"/>
                  </a:moveTo>
                  <a:lnTo>
                    <a:pt x="10856341" y="0"/>
                  </a:lnTo>
                  <a:lnTo>
                    <a:pt x="10856341" y="704088"/>
                  </a:lnTo>
                  <a:lnTo>
                    <a:pt x="0" y="704088"/>
                  </a:lnTo>
                  <a:close/>
                </a:path>
              </a:pathLst>
            </a:custGeom>
            <a:solidFill>
              <a:srgbClr val="192248"/>
            </a:solidFill>
          </p:spPr>
        </p:sp>
      </p:grpSp>
      <p:sp>
        <p:nvSpPr>
          <p:cNvPr name="TextBox 40" id="40"/>
          <p:cNvSpPr txBox="true"/>
          <p:nvPr/>
        </p:nvSpPr>
        <p:spPr>
          <a:xfrm rot="0">
            <a:off x="1207294" y="5810098"/>
            <a:ext cx="8641109" cy="338433"/>
          </a:xfrm>
          <a:prstGeom prst="rect">
            <a:avLst/>
          </a:prstGeom>
        </p:spPr>
        <p:txBody>
          <a:bodyPr anchor="t" rtlCol="false" tIns="0" lIns="0" bIns="0" rIns="0">
            <a:spAutoFit/>
          </a:bodyPr>
          <a:lstStyle/>
          <a:p>
            <a:pPr algn="l">
              <a:lnSpc>
                <a:spcPts val="2342"/>
              </a:lnSpc>
            </a:pPr>
            <a:r>
              <a:rPr lang="en-US" sz="1600" b="true">
                <a:solidFill>
                  <a:srgbClr val="FFFFFF"/>
                </a:solidFill>
                <a:latin typeface="Open Sans Bold"/>
                <a:ea typeface="Open Sans Bold"/>
                <a:cs typeface="Open Sans Bold"/>
                <a:sym typeface="Open Sans Bold"/>
              </a:rPr>
              <a:t>Test Scenario</a:t>
            </a:r>
          </a:p>
        </p:txBody>
      </p:sp>
      <p:grpSp>
        <p:nvGrpSpPr>
          <p:cNvPr name="Group 41" id="41"/>
          <p:cNvGrpSpPr/>
          <p:nvPr/>
        </p:nvGrpSpPr>
        <p:grpSpPr>
          <a:xfrm rot="0">
            <a:off x="9144152" y="5736727"/>
            <a:ext cx="5699522" cy="528037"/>
            <a:chOff x="0" y="0"/>
            <a:chExt cx="7599362" cy="704050"/>
          </a:xfrm>
        </p:grpSpPr>
        <p:sp>
          <p:nvSpPr>
            <p:cNvPr name="Freeform 42" id="42"/>
            <p:cNvSpPr/>
            <p:nvPr/>
          </p:nvSpPr>
          <p:spPr>
            <a:xfrm flipH="false" flipV="false" rot="0">
              <a:off x="0" y="0"/>
              <a:ext cx="7599426" cy="704088"/>
            </a:xfrm>
            <a:custGeom>
              <a:avLst/>
              <a:gdLst/>
              <a:ahLst/>
              <a:cxnLst/>
              <a:rect r="r" b="b" t="t" l="l"/>
              <a:pathLst>
                <a:path h="704088" w="7599426">
                  <a:moveTo>
                    <a:pt x="0" y="0"/>
                  </a:moveTo>
                  <a:lnTo>
                    <a:pt x="7599426" y="0"/>
                  </a:lnTo>
                  <a:lnTo>
                    <a:pt x="7599426" y="704088"/>
                  </a:lnTo>
                  <a:lnTo>
                    <a:pt x="0" y="704088"/>
                  </a:lnTo>
                  <a:close/>
                </a:path>
              </a:pathLst>
            </a:custGeom>
            <a:solidFill>
              <a:srgbClr val="192248"/>
            </a:solidFill>
          </p:spPr>
        </p:sp>
      </p:grpSp>
      <p:sp>
        <p:nvSpPr>
          <p:cNvPr name="TextBox 43" id="43"/>
          <p:cNvSpPr txBox="true"/>
          <p:nvPr/>
        </p:nvSpPr>
        <p:spPr>
          <a:xfrm rot="0">
            <a:off x="9354293" y="5810098"/>
            <a:ext cx="6193631" cy="338433"/>
          </a:xfrm>
          <a:prstGeom prst="rect">
            <a:avLst/>
          </a:prstGeom>
        </p:spPr>
        <p:txBody>
          <a:bodyPr anchor="t" rtlCol="false" tIns="0" lIns="0" bIns="0" rIns="0">
            <a:spAutoFit/>
          </a:bodyPr>
          <a:lstStyle/>
          <a:p>
            <a:pPr algn="l">
              <a:lnSpc>
                <a:spcPts val="2342"/>
              </a:lnSpc>
            </a:pPr>
            <a:r>
              <a:rPr lang="en-US" sz="1600" b="true">
                <a:solidFill>
                  <a:srgbClr val="FFFFFF"/>
                </a:solidFill>
                <a:latin typeface="Open Sans Bold"/>
                <a:ea typeface="Open Sans Bold"/>
                <a:cs typeface="Open Sans Bold"/>
                <a:sym typeface="Open Sans Bold"/>
              </a:rPr>
              <a:t>Expected Outcome</a:t>
            </a:r>
          </a:p>
        </p:txBody>
      </p:sp>
      <p:grpSp>
        <p:nvGrpSpPr>
          <p:cNvPr name="Group 44" id="44"/>
          <p:cNvGrpSpPr/>
          <p:nvPr/>
        </p:nvGrpSpPr>
        <p:grpSpPr>
          <a:xfrm rot="0">
            <a:off x="14843674" y="5736727"/>
            <a:ext cx="2442572" cy="528037"/>
            <a:chOff x="0" y="0"/>
            <a:chExt cx="3256763" cy="704050"/>
          </a:xfrm>
        </p:grpSpPr>
        <p:sp>
          <p:nvSpPr>
            <p:cNvPr name="Freeform 45" id="45"/>
            <p:cNvSpPr/>
            <p:nvPr/>
          </p:nvSpPr>
          <p:spPr>
            <a:xfrm flipH="false" flipV="false" rot="0">
              <a:off x="0" y="0"/>
              <a:ext cx="3256788" cy="704088"/>
            </a:xfrm>
            <a:custGeom>
              <a:avLst/>
              <a:gdLst/>
              <a:ahLst/>
              <a:cxnLst/>
              <a:rect r="r" b="b" t="t" l="l"/>
              <a:pathLst>
                <a:path h="704088" w="3256788">
                  <a:moveTo>
                    <a:pt x="0" y="0"/>
                  </a:moveTo>
                  <a:lnTo>
                    <a:pt x="3256788" y="0"/>
                  </a:lnTo>
                  <a:lnTo>
                    <a:pt x="3256788" y="704088"/>
                  </a:lnTo>
                  <a:lnTo>
                    <a:pt x="0" y="704088"/>
                  </a:lnTo>
                  <a:close/>
                </a:path>
              </a:pathLst>
            </a:custGeom>
            <a:solidFill>
              <a:srgbClr val="192248"/>
            </a:solidFill>
          </p:spPr>
        </p:sp>
      </p:grpSp>
      <p:sp>
        <p:nvSpPr>
          <p:cNvPr name="TextBox 46" id="46"/>
          <p:cNvSpPr txBox="true"/>
          <p:nvPr/>
        </p:nvSpPr>
        <p:spPr>
          <a:xfrm rot="0">
            <a:off x="15053815" y="5810098"/>
            <a:ext cx="2941444" cy="338433"/>
          </a:xfrm>
          <a:prstGeom prst="rect">
            <a:avLst/>
          </a:prstGeom>
        </p:spPr>
        <p:txBody>
          <a:bodyPr anchor="t" rtlCol="false" tIns="0" lIns="0" bIns="0" rIns="0">
            <a:spAutoFit/>
          </a:bodyPr>
          <a:lstStyle/>
          <a:p>
            <a:pPr algn="l">
              <a:lnSpc>
                <a:spcPts val="2342"/>
              </a:lnSpc>
            </a:pPr>
            <a:r>
              <a:rPr lang="en-US" sz="1600" b="true">
                <a:solidFill>
                  <a:srgbClr val="FFFFFF"/>
                </a:solidFill>
                <a:latin typeface="Open Sans Bold"/>
                <a:ea typeface="Open Sans Bold"/>
                <a:cs typeface="Open Sans Bold"/>
                <a:sym typeface="Open Sans Bold"/>
              </a:rPr>
              <a:t>Status</a:t>
            </a:r>
          </a:p>
        </p:txBody>
      </p:sp>
      <p:sp>
        <p:nvSpPr>
          <p:cNvPr name="TextBox 47" id="47"/>
          <p:cNvSpPr txBox="true"/>
          <p:nvPr/>
        </p:nvSpPr>
        <p:spPr>
          <a:xfrm rot="0">
            <a:off x="1207294" y="6342907"/>
            <a:ext cx="8641109" cy="338433"/>
          </a:xfrm>
          <a:prstGeom prst="rect">
            <a:avLst/>
          </a:prstGeom>
        </p:spPr>
        <p:txBody>
          <a:bodyPr anchor="t" rtlCol="false" tIns="0" lIns="0" bIns="0" rIns="0">
            <a:spAutoFit/>
          </a:bodyPr>
          <a:lstStyle/>
          <a:p>
            <a:pPr algn="l">
              <a:lnSpc>
                <a:spcPts val="2342"/>
              </a:lnSpc>
            </a:pPr>
            <a:r>
              <a:rPr lang="en-US" sz="1600">
                <a:solidFill>
                  <a:srgbClr val="333F70"/>
                </a:solidFill>
                <a:latin typeface="Open Sans"/>
                <a:ea typeface="Open Sans"/>
                <a:cs typeface="Open Sans"/>
                <a:sym typeface="Open Sans"/>
              </a:rPr>
              <a:t>Normal Driving</a:t>
            </a:r>
          </a:p>
        </p:txBody>
      </p:sp>
      <p:sp>
        <p:nvSpPr>
          <p:cNvPr name="TextBox 48" id="48"/>
          <p:cNvSpPr txBox="true"/>
          <p:nvPr/>
        </p:nvSpPr>
        <p:spPr>
          <a:xfrm rot="0">
            <a:off x="9354293" y="6342907"/>
            <a:ext cx="6193631" cy="338433"/>
          </a:xfrm>
          <a:prstGeom prst="rect">
            <a:avLst/>
          </a:prstGeom>
        </p:spPr>
        <p:txBody>
          <a:bodyPr anchor="t" rtlCol="false" tIns="0" lIns="0" bIns="0" rIns="0">
            <a:spAutoFit/>
          </a:bodyPr>
          <a:lstStyle/>
          <a:p>
            <a:pPr algn="l">
              <a:lnSpc>
                <a:spcPts val="2342"/>
              </a:lnSpc>
            </a:pPr>
            <a:r>
              <a:rPr lang="en-US" sz="1600">
                <a:solidFill>
                  <a:srgbClr val="333F70"/>
                </a:solidFill>
                <a:latin typeface="Open Sans"/>
                <a:ea typeface="Open Sans"/>
                <a:cs typeface="Open Sans"/>
                <a:sym typeface="Open Sans"/>
              </a:rPr>
              <a:t>No alerts</a:t>
            </a:r>
          </a:p>
        </p:txBody>
      </p:sp>
      <p:sp>
        <p:nvSpPr>
          <p:cNvPr name="TextBox 49" id="49"/>
          <p:cNvSpPr txBox="true"/>
          <p:nvPr/>
        </p:nvSpPr>
        <p:spPr>
          <a:xfrm rot="0">
            <a:off x="15053815" y="6342907"/>
            <a:ext cx="2941444" cy="347958"/>
          </a:xfrm>
          <a:prstGeom prst="rect">
            <a:avLst/>
          </a:prstGeom>
        </p:spPr>
        <p:txBody>
          <a:bodyPr anchor="t" rtlCol="false" tIns="0" lIns="0" bIns="0" rIns="0">
            <a:spAutoFit/>
          </a:bodyPr>
          <a:lstStyle/>
          <a:p>
            <a:pPr algn="l">
              <a:lnSpc>
                <a:spcPts val="2342"/>
              </a:lnSpc>
            </a:pPr>
            <a:r>
              <a:rPr lang="en-US" sz="1600">
                <a:solidFill>
                  <a:srgbClr val="000000"/>
                </a:solidFill>
                <a:latin typeface="Open Sans"/>
                <a:ea typeface="Open Sans"/>
                <a:cs typeface="Open Sans"/>
                <a:sym typeface="Open Sans"/>
              </a:rPr>
              <a:t>✅</a:t>
            </a:r>
            <a:r>
              <a:rPr lang="en-US" sz="1600">
                <a:solidFill>
                  <a:srgbClr val="26A688"/>
                </a:solidFill>
                <a:latin typeface="Open Sans"/>
                <a:ea typeface="Open Sans"/>
                <a:cs typeface="Open Sans"/>
                <a:sym typeface="Open Sans"/>
              </a:rPr>
              <a:t> Pass</a:t>
            </a:r>
          </a:p>
        </p:txBody>
      </p:sp>
      <p:sp>
        <p:nvSpPr>
          <p:cNvPr name="TextBox 50" id="50"/>
          <p:cNvSpPr txBox="true"/>
          <p:nvPr/>
        </p:nvSpPr>
        <p:spPr>
          <a:xfrm rot="0">
            <a:off x="1207294" y="6885232"/>
            <a:ext cx="8641109" cy="338433"/>
          </a:xfrm>
          <a:prstGeom prst="rect">
            <a:avLst/>
          </a:prstGeom>
        </p:spPr>
        <p:txBody>
          <a:bodyPr anchor="t" rtlCol="false" tIns="0" lIns="0" bIns="0" rIns="0">
            <a:spAutoFit/>
          </a:bodyPr>
          <a:lstStyle/>
          <a:p>
            <a:pPr algn="l">
              <a:lnSpc>
                <a:spcPts val="2342"/>
              </a:lnSpc>
            </a:pPr>
            <a:r>
              <a:rPr lang="en-US" sz="1600">
                <a:solidFill>
                  <a:srgbClr val="333F70"/>
                </a:solidFill>
                <a:latin typeface="Open Sans"/>
                <a:ea typeface="Open Sans"/>
                <a:cs typeface="Open Sans"/>
                <a:sym typeface="Open Sans"/>
              </a:rPr>
              <a:t>Overspeed Condition</a:t>
            </a:r>
          </a:p>
        </p:txBody>
      </p:sp>
      <p:sp>
        <p:nvSpPr>
          <p:cNvPr name="TextBox 51" id="51"/>
          <p:cNvSpPr txBox="true"/>
          <p:nvPr/>
        </p:nvSpPr>
        <p:spPr>
          <a:xfrm rot="0">
            <a:off x="9354293" y="6885232"/>
            <a:ext cx="6193631" cy="338433"/>
          </a:xfrm>
          <a:prstGeom prst="rect">
            <a:avLst/>
          </a:prstGeom>
        </p:spPr>
        <p:txBody>
          <a:bodyPr anchor="t" rtlCol="false" tIns="0" lIns="0" bIns="0" rIns="0">
            <a:spAutoFit/>
          </a:bodyPr>
          <a:lstStyle/>
          <a:p>
            <a:pPr algn="l">
              <a:lnSpc>
                <a:spcPts val="2342"/>
              </a:lnSpc>
            </a:pPr>
            <a:r>
              <a:rPr lang="en-US" sz="1600">
                <a:solidFill>
                  <a:srgbClr val="333F70"/>
                </a:solidFill>
                <a:latin typeface="Open Sans"/>
                <a:ea typeface="Open Sans"/>
                <a:cs typeface="Open Sans"/>
                <a:sym typeface="Open Sans"/>
              </a:rPr>
              <a:t>Speed alert triggered</a:t>
            </a:r>
          </a:p>
        </p:txBody>
      </p:sp>
      <p:sp>
        <p:nvSpPr>
          <p:cNvPr name="TextBox 52" id="52"/>
          <p:cNvSpPr txBox="true"/>
          <p:nvPr/>
        </p:nvSpPr>
        <p:spPr>
          <a:xfrm rot="0">
            <a:off x="15053815" y="6885232"/>
            <a:ext cx="2941444" cy="347958"/>
          </a:xfrm>
          <a:prstGeom prst="rect">
            <a:avLst/>
          </a:prstGeom>
        </p:spPr>
        <p:txBody>
          <a:bodyPr anchor="t" rtlCol="false" tIns="0" lIns="0" bIns="0" rIns="0">
            <a:spAutoFit/>
          </a:bodyPr>
          <a:lstStyle/>
          <a:p>
            <a:pPr algn="l">
              <a:lnSpc>
                <a:spcPts val="2342"/>
              </a:lnSpc>
            </a:pPr>
            <a:r>
              <a:rPr lang="en-US" sz="1600">
                <a:solidFill>
                  <a:srgbClr val="000000"/>
                </a:solidFill>
                <a:latin typeface="Open Sans"/>
                <a:ea typeface="Open Sans"/>
                <a:cs typeface="Open Sans"/>
                <a:sym typeface="Open Sans"/>
              </a:rPr>
              <a:t>✅</a:t>
            </a:r>
            <a:r>
              <a:rPr lang="en-US" sz="1600">
                <a:solidFill>
                  <a:srgbClr val="26A688"/>
                </a:solidFill>
                <a:latin typeface="Open Sans"/>
                <a:ea typeface="Open Sans"/>
                <a:cs typeface="Open Sans"/>
                <a:sym typeface="Open Sans"/>
              </a:rPr>
              <a:t> Pass</a:t>
            </a:r>
          </a:p>
        </p:txBody>
      </p:sp>
      <p:sp>
        <p:nvSpPr>
          <p:cNvPr name="TextBox 53" id="53"/>
          <p:cNvSpPr txBox="true"/>
          <p:nvPr/>
        </p:nvSpPr>
        <p:spPr>
          <a:xfrm rot="0">
            <a:off x="1207294" y="7427566"/>
            <a:ext cx="8641109" cy="338433"/>
          </a:xfrm>
          <a:prstGeom prst="rect">
            <a:avLst/>
          </a:prstGeom>
        </p:spPr>
        <p:txBody>
          <a:bodyPr anchor="t" rtlCol="false" tIns="0" lIns="0" bIns="0" rIns="0">
            <a:spAutoFit/>
          </a:bodyPr>
          <a:lstStyle/>
          <a:p>
            <a:pPr algn="l">
              <a:lnSpc>
                <a:spcPts val="2342"/>
              </a:lnSpc>
            </a:pPr>
            <a:r>
              <a:rPr lang="en-US" sz="1600">
                <a:solidFill>
                  <a:srgbClr val="333F70"/>
                </a:solidFill>
                <a:latin typeface="Open Sans"/>
                <a:ea typeface="Open Sans"/>
                <a:cs typeface="Open Sans"/>
                <a:sym typeface="Open Sans"/>
              </a:rPr>
              <a:t>Obstacle Detection</a:t>
            </a:r>
          </a:p>
        </p:txBody>
      </p:sp>
      <p:sp>
        <p:nvSpPr>
          <p:cNvPr name="TextBox 54" id="54"/>
          <p:cNvSpPr txBox="true"/>
          <p:nvPr/>
        </p:nvSpPr>
        <p:spPr>
          <a:xfrm rot="0">
            <a:off x="9354293" y="7427566"/>
            <a:ext cx="6193631" cy="338433"/>
          </a:xfrm>
          <a:prstGeom prst="rect">
            <a:avLst/>
          </a:prstGeom>
        </p:spPr>
        <p:txBody>
          <a:bodyPr anchor="t" rtlCol="false" tIns="0" lIns="0" bIns="0" rIns="0">
            <a:spAutoFit/>
          </a:bodyPr>
          <a:lstStyle/>
          <a:p>
            <a:pPr algn="l">
              <a:lnSpc>
                <a:spcPts val="2342"/>
              </a:lnSpc>
            </a:pPr>
            <a:r>
              <a:rPr lang="en-US" sz="1600">
                <a:solidFill>
                  <a:srgbClr val="333F70"/>
                </a:solidFill>
                <a:latin typeface="Open Sans"/>
                <a:ea typeface="Open Sans"/>
                <a:cs typeface="Open Sans"/>
                <a:sym typeface="Open Sans"/>
              </a:rPr>
              <a:t>Collision alert triggered</a:t>
            </a:r>
          </a:p>
        </p:txBody>
      </p:sp>
      <p:sp>
        <p:nvSpPr>
          <p:cNvPr name="TextBox 55" id="55"/>
          <p:cNvSpPr txBox="true"/>
          <p:nvPr/>
        </p:nvSpPr>
        <p:spPr>
          <a:xfrm rot="0">
            <a:off x="15053815" y="7427566"/>
            <a:ext cx="2941444" cy="347958"/>
          </a:xfrm>
          <a:prstGeom prst="rect">
            <a:avLst/>
          </a:prstGeom>
        </p:spPr>
        <p:txBody>
          <a:bodyPr anchor="t" rtlCol="false" tIns="0" lIns="0" bIns="0" rIns="0">
            <a:spAutoFit/>
          </a:bodyPr>
          <a:lstStyle/>
          <a:p>
            <a:pPr algn="l">
              <a:lnSpc>
                <a:spcPts val="2342"/>
              </a:lnSpc>
            </a:pPr>
            <a:r>
              <a:rPr lang="en-US" sz="1600">
                <a:solidFill>
                  <a:srgbClr val="000000"/>
                </a:solidFill>
                <a:latin typeface="Open Sans"/>
                <a:ea typeface="Open Sans"/>
                <a:cs typeface="Open Sans"/>
                <a:sym typeface="Open Sans"/>
              </a:rPr>
              <a:t>✅</a:t>
            </a:r>
            <a:r>
              <a:rPr lang="en-US" sz="1600">
                <a:solidFill>
                  <a:srgbClr val="26A688"/>
                </a:solidFill>
                <a:latin typeface="Open Sans"/>
                <a:ea typeface="Open Sans"/>
                <a:cs typeface="Open Sans"/>
                <a:sym typeface="Open Sans"/>
              </a:rPr>
              <a:t> Pass</a:t>
            </a:r>
          </a:p>
        </p:txBody>
      </p:sp>
      <p:sp>
        <p:nvSpPr>
          <p:cNvPr name="TextBox 56" id="56"/>
          <p:cNvSpPr txBox="true"/>
          <p:nvPr/>
        </p:nvSpPr>
        <p:spPr>
          <a:xfrm rot="0">
            <a:off x="1207294" y="7969891"/>
            <a:ext cx="8641109" cy="338433"/>
          </a:xfrm>
          <a:prstGeom prst="rect">
            <a:avLst/>
          </a:prstGeom>
        </p:spPr>
        <p:txBody>
          <a:bodyPr anchor="t" rtlCol="false" tIns="0" lIns="0" bIns="0" rIns="0">
            <a:spAutoFit/>
          </a:bodyPr>
          <a:lstStyle/>
          <a:p>
            <a:pPr algn="l">
              <a:lnSpc>
                <a:spcPts val="2342"/>
              </a:lnSpc>
            </a:pPr>
            <a:r>
              <a:rPr lang="en-US" sz="1600">
                <a:solidFill>
                  <a:srgbClr val="333F70"/>
                </a:solidFill>
                <a:latin typeface="Open Sans"/>
                <a:ea typeface="Open Sans"/>
                <a:cs typeface="Open Sans"/>
                <a:sym typeface="Open Sans"/>
              </a:rPr>
              <a:t>Drowsiness Event</a:t>
            </a:r>
          </a:p>
        </p:txBody>
      </p:sp>
      <p:sp>
        <p:nvSpPr>
          <p:cNvPr name="TextBox 57" id="57"/>
          <p:cNvSpPr txBox="true"/>
          <p:nvPr/>
        </p:nvSpPr>
        <p:spPr>
          <a:xfrm rot="0">
            <a:off x="9354293" y="7969891"/>
            <a:ext cx="6193631" cy="338433"/>
          </a:xfrm>
          <a:prstGeom prst="rect">
            <a:avLst/>
          </a:prstGeom>
        </p:spPr>
        <p:txBody>
          <a:bodyPr anchor="t" rtlCol="false" tIns="0" lIns="0" bIns="0" rIns="0">
            <a:spAutoFit/>
          </a:bodyPr>
          <a:lstStyle/>
          <a:p>
            <a:pPr algn="l">
              <a:lnSpc>
                <a:spcPts val="2342"/>
              </a:lnSpc>
            </a:pPr>
            <a:r>
              <a:rPr lang="en-US" sz="1600">
                <a:solidFill>
                  <a:srgbClr val="333F70"/>
                </a:solidFill>
                <a:latin typeface="Open Sans"/>
                <a:ea typeface="Open Sans"/>
                <a:cs typeface="Open Sans"/>
                <a:sym typeface="Open Sans"/>
              </a:rPr>
              <a:t>Buzzer + LED alert</a:t>
            </a:r>
          </a:p>
        </p:txBody>
      </p:sp>
      <p:sp>
        <p:nvSpPr>
          <p:cNvPr name="TextBox 58" id="58"/>
          <p:cNvSpPr txBox="true"/>
          <p:nvPr/>
        </p:nvSpPr>
        <p:spPr>
          <a:xfrm rot="0">
            <a:off x="15053815" y="7969891"/>
            <a:ext cx="2941444" cy="347958"/>
          </a:xfrm>
          <a:prstGeom prst="rect">
            <a:avLst/>
          </a:prstGeom>
        </p:spPr>
        <p:txBody>
          <a:bodyPr anchor="t" rtlCol="false" tIns="0" lIns="0" bIns="0" rIns="0">
            <a:spAutoFit/>
          </a:bodyPr>
          <a:lstStyle/>
          <a:p>
            <a:pPr algn="l">
              <a:lnSpc>
                <a:spcPts val="2342"/>
              </a:lnSpc>
            </a:pPr>
            <a:r>
              <a:rPr lang="en-US" sz="1600">
                <a:solidFill>
                  <a:srgbClr val="000000"/>
                </a:solidFill>
                <a:latin typeface="Open Sans"/>
                <a:ea typeface="Open Sans"/>
                <a:cs typeface="Open Sans"/>
                <a:sym typeface="Open Sans"/>
              </a:rPr>
              <a:t>✅</a:t>
            </a:r>
            <a:r>
              <a:rPr lang="en-US" sz="1600">
                <a:solidFill>
                  <a:srgbClr val="26A688"/>
                </a:solidFill>
                <a:latin typeface="Open Sans"/>
                <a:ea typeface="Open Sans"/>
                <a:cs typeface="Open Sans"/>
                <a:sym typeface="Open Sans"/>
              </a:rPr>
              <a:t> Pass</a:t>
            </a:r>
          </a:p>
        </p:txBody>
      </p:sp>
      <p:sp>
        <p:nvSpPr>
          <p:cNvPr name="TextBox 59" id="59"/>
          <p:cNvSpPr txBox="true"/>
          <p:nvPr/>
        </p:nvSpPr>
        <p:spPr>
          <a:xfrm rot="0">
            <a:off x="1207294" y="8512226"/>
            <a:ext cx="8641109" cy="338433"/>
          </a:xfrm>
          <a:prstGeom prst="rect">
            <a:avLst/>
          </a:prstGeom>
        </p:spPr>
        <p:txBody>
          <a:bodyPr anchor="t" rtlCol="false" tIns="0" lIns="0" bIns="0" rIns="0">
            <a:spAutoFit/>
          </a:bodyPr>
          <a:lstStyle/>
          <a:p>
            <a:pPr algn="l">
              <a:lnSpc>
                <a:spcPts val="2342"/>
              </a:lnSpc>
            </a:pPr>
            <a:r>
              <a:rPr lang="en-US" sz="1600">
                <a:solidFill>
                  <a:srgbClr val="333F70"/>
                </a:solidFill>
                <a:latin typeface="Open Sans"/>
                <a:ea typeface="Open Sans"/>
                <a:cs typeface="Open Sans"/>
                <a:sym typeface="Open Sans"/>
              </a:rPr>
              <a:t>Harsh Braking</a:t>
            </a:r>
          </a:p>
        </p:txBody>
      </p:sp>
      <p:sp>
        <p:nvSpPr>
          <p:cNvPr name="TextBox 60" id="60"/>
          <p:cNvSpPr txBox="true"/>
          <p:nvPr/>
        </p:nvSpPr>
        <p:spPr>
          <a:xfrm rot="0">
            <a:off x="9354293" y="8512226"/>
            <a:ext cx="6193631" cy="338433"/>
          </a:xfrm>
          <a:prstGeom prst="rect">
            <a:avLst/>
          </a:prstGeom>
        </p:spPr>
        <p:txBody>
          <a:bodyPr anchor="t" rtlCol="false" tIns="0" lIns="0" bIns="0" rIns="0">
            <a:spAutoFit/>
          </a:bodyPr>
          <a:lstStyle/>
          <a:p>
            <a:pPr algn="l">
              <a:lnSpc>
                <a:spcPts val="2342"/>
              </a:lnSpc>
            </a:pPr>
            <a:r>
              <a:rPr lang="en-US" sz="1600">
                <a:solidFill>
                  <a:srgbClr val="333F70"/>
                </a:solidFill>
                <a:latin typeface="Open Sans"/>
                <a:ea typeface="Open Sans"/>
                <a:cs typeface="Open Sans"/>
                <a:sym typeface="Open Sans"/>
              </a:rPr>
              <a:t>Behaviour alert triggered</a:t>
            </a:r>
          </a:p>
        </p:txBody>
      </p:sp>
      <p:sp>
        <p:nvSpPr>
          <p:cNvPr name="TextBox 61" id="61"/>
          <p:cNvSpPr txBox="true"/>
          <p:nvPr/>
        </p:nvSpPr>
        <p:spPr>
          <a:xfrm rot="0">
            <a:off x="15053815" y="8512226"/>
            <a:ext cx="2941444" cy="347958"/>
          </a:xfrm>
          <a:prstGeom prst="rect">
            <a:avLst/>
          </a:prstGeom>
        </p:spPr>
        <p:txBody>
          <a:bodyPr anchor="t" rtlCol="false" tIns="0" lIns="0" bIns="0" rIns="0">
            <a:spAutoFit/>
          </a:bodyPr>
          <a:lstStyle/>
          <a:p>
            <a:pPr algn="l">
              <a:lnSpc>
                <a:spcPts val="2342"/>
              </a:lnSpc>
            </a:pPr>
            <a:r>
              <a:rPr lang="en-US" sz="1600">
                <a:solidFill>
                  <a:srgbClr val="000000"/>
                </a:solidFill>
                <a:latin typeface="Open Sans"/>
                <a:ea typeface="Open Sans"/>
                <a:cs typeface="Open Sans"/>
                <a:sym typeface="Open Sans"/>
              </a:rPr>
              <a:t>✅</a:t>
            </a:r>
            <a:r>
              <a:rPr lang="en-US" sz="1600">
                <a:solidFill>
                  <a:srgbClr val="26A688"/>
                </a:solidFill>
                <a:latin typeface="Open Sans"/>
                <a:ea typeface="Open Sans"/>
                <a:cs typeface="Open Sans"/>
                <a:sym typeface="Open Sans"/>
              </a:rPr>
              <a:t> Pass</a:t>
            </a:r>
          </a:p>
        </p:txBody>
      </p:sp>
      <p:sp>
        <p:nvSpPr>
          <p:cNvPr name="TextBox 62" id="62"/>
          <p:cNvSpPr txBox="true"/>
          <p:nvPr/>
        </p:nvSpPr>
        <p:spPr>
          <a:xfrm rot="0">
            <a:off x="1207294" y="9054551"/>
            <a:ext cx="8641109" cy="338433"/>
          </a:xfrm>
          <a:prstGeom prst="rect">
            <a:avLst/>
          </a:prstGeom>
        </p:spPr>
        <p:txBody>
          <a:bodyPr anchor="t" rtlCol="false" tIns="0" lIns="0" bIns="0" rIns="0">
            <a:spAutoFit/>
          </a:bodyPr>
          <a:lstStyle/>
          <a:p>
            <a:pPr algn="l">
              <a:lnSpc>
                <a:spcPts val="2342"/>
              </a:lnSpc>
            </a:pPr>
            <a:r>
              <a:rPr lang="en-US" sz="1600">
                <a:solidFill>
                  <a:srgbClr val="333F70"/>
                </a:solidFill>
                <a:latin typeface="Open Sans"/>
                <a:ea typeface="Open Sans"/>
                <a:cs typeface="Open Sans"/>
                <a:sym typeface="Open Sans"/>
              </a:rPr>
              <a:t>Harsh Turning</a:t>
            </a:r>
          </a:p>
        </p:txBody>
      </p:sp>
      <p:sp>
        <p:nvSpPr>
          <p:cNvPr name="TextBox 63" id="63"/>
          <p:cNvSpPr txBox="true"/>
          <p:nvPr/>
        </p:nvSpPr>
        <p:spPr>
          <a:xfrm rot="0">
            <a:off x="9354293" y="9054551"/>
            <a:ext cx="6193631" cy="338433"/>
          </a:xfrm>
          <a:prstGeom prst="rect">
            <a:avLst/>
          </a:prstGeom>
        </p:spPr>
        <p:txBody>
          <a:bodyPr anchor="t" rtlCol="false" tIns="0" lIns="0" bIns="0" rIns="0">
            <a:spAutoFit/>
          </a:bodyPr>
          <a:lstStyle/>
          <a:p>
            <a:pPr algn="l">
              <a:lnSpc>
                <a:spcPts val="2342"/>
              </a:lnSpc>
            </a:pPr>
            <a:r>
              <a:rPr lang="en-US" sz="1600">
                <a:solidFill>
                  <a:srgbClr val="333F70"/>
                </a:solidFill>
                <a:latin typeface="Open Sans"/>
                <a:ea typeface="Open Sans"/>
                <a:cs typeface="Open Sans"/>
                <a:sym typeface="Open Sans"/>
              </a:rPr>
              <a:t>Behaviour alert triggered</a:t>
            </a:r>
          </a:p>
        </p:txBody>
      </p:sp>
      <p:sp>
        <p:nvSpPr>
          <p:cNvPr name="TextBox 64" id="64"/>
          <p:cNvSpPr txBox="true"/>
          <p:nvPr/>
        </p:nvSpPr>
        <p:spPr>
          <a:xfrm rot="0">
            <a:off x="15053815" y="9054551"/>
            <a:ext cx="2941444" cy="347958"/>
          </a:xfrm>
          <a:prstGeom prst="rect">
            <a:avLst/>
          </a:prstGeom>
        </p:spPr>
        <p:txBody>
          <a:bodyPr anchor="t" rtlCol="false" tIns="0" lIns="0" bIns="0" rIns="0">
            <a:spAutoFit/>
          </a:bodyPr>
          <a:lstStyle/>
          <a:p>
            <a:pPr algn="l">
              <a:lnSpc>
                <a:spcPts val="2342"/>
              </a:lnSpc>
            </a:pPr>
            <a:r>
              <a:rPr lang="en-US" sz="1600">
                <a:solidFill>
                  <a:srgbClr val="000000"/>
                </a:solidFill>
                <a:latin typeface="Open Sans"/>
                <a:ea typeface="Open Sans"/>
                <a:cs typeface="Open Sans"/>
                <a:sym typeface="Open Sans"/>
              </a:rPr>
              <a:t>✅</a:t>
            </a:r>
            <a:r>
              <a:rPr lang="en-US" sz="1600">
                <a:solidFill>
                  <a:srgbClr val="26A688"/>
                </a:solidFill>
                <a:latin typeface="Open Sans"/>
                <a:ea typeface="Open Sans"/>
                <a:cs typeface="Open Sans"/>
                <a:sym typeface="Open Sans"/>
              </a:rPr>
              <a:t> Pass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6F5E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92238" y="700830"/>
            <a:ext cx="4606976" cy="391868"/>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Results &amp; Outcomes</a:t>
            </a:r>
          </a:p>
        </p:txBody>
      </p:sp>
      <p:sp>
        <p:nvSpPr>
          <p:cNvPr name="TextBox 7" id="7"/>
          <p:cNvSpPr txBox="true"/>
          <p:nvPr/>
        </p:nvSpPr>
        <p:spPr>
          <a:xfrm rot="0">
            <a:off x="992238" y="1132284"/>
            <a:ext cx="16472449" cy="774354"/>
          </a:xfrm>
          <a:prstGeom prst="rect">
            <a:avLst/>
          </a:prstGeom>
        </p:spPr>
        <p:txBody>
          <a:bodyPr anchor="t" rtlCol="false" tIns="0" lIns="0" bIns="0" rIns="0">
            <a:spAutoFit/>
          </a:bodyPr>
          <a:lstStyle/>
          <a:p>
            <a:pPr algn="l">
              <a:lnSpc>
                <a:spcPts val="5616"/>
              </a:lnSpc>
            </a:pPr>
            <a:r>
              <a:rPr lang="en-US" sz="4500" b="true">
                <a:solidFill>
                  <a:srgbClr val="333F70"/>
                </a:solidFill>
                <a:latin typeface="Arimo Bold"/>
                <a:ea typeface="Arimo Bold"/>
                <a:cs typeface="Arimo Bold"/>
                <a:sym typeface="Arimo Bold"/>
              </a:rPr>
              <a:t>All Safety Features Successfully Validated</a:t>
            </a:r>
          </a:p>
        </p:txBody>
      </p:sp>
      <p:sp>
        <p:nvSpPr>
          <p:cNvPr name="TextBox 8" id="8"/>
          <p:cNvSpPr txBox="true"/>
          <p:nvPr/>
        </p:nvSpPr>
        <p:spPr>
          <a:xfrm rot="0">
            <a:off x="992238" y="2185987"/>
            <a:ext cx="16303523" cy="1129008"/>
          </a:xfrm>
          <a:prstGeom prst="rect">
            <a:avLst/>
          </a:prstGeom>
        </p:spPr>
        <p:txBody>
          <a:bodyPr anchor="t" rtlCol="false" tIns="0" lIns="0" bIns="0" rIns="0">
            <a:spAutoFit/>
          </a:bodyPr>
          <a:lstStyle/>
          <a:p>
            <a:pPr algn="l">
              <a:lnSpc>
                <a:spcPts val="2786"/>
              </a:lnSpc>
            </a:pPr>
            <a:r>
              <a:rPr lang="en-US" sz="1800">
                <a:solidFill>
                  <a:srgbClr val="333F70"/>
                </a:solidFill>
                <a:latin typeface="Open Sans"/>
                <a:ea typeface="Open Sans"/>
                <a:cs typeface="Open Sans"/>
                <a:sym typeface="Open Sans"/>
              </a:rPr>
              <a:t>The prototype demonstrated reliable, real-time detection across all seven safety monitoring features during comprehensive bench testing. Dynamic threshold-based decisions adapt to vehicle speed, and multi-sensor integration provides redundant safety coverage within the constraints of low-cost embedded hardware.</a:t>
            </a:r>
          </a:p>
        </p:txBody>
      </p:sp>
      <p:sp>
        <p:nvSpPr>
          <p:cNvPr name="Freeform 9" id="9" descr="preencoded.png"/>
          <p:cNvSpPr/>
          <p:nvPr/>
        </p:nvSpPr>
        <p:spPr>
          <a:xfrm flipH="false" flipV="false" rot="0">
            <a:off x="992238" y="3560264"/>
            <a:ext cx="581320" cy="581320"/>
          </a:xfrm>
          <a:custGeom>
            <a:avLst/>
            <a:gdLst/>
            <a:ahLst/>
            <a:cxnLst/>
            <a:rect r="r" b="b" t="t" l="l"/>
            <a:pathLst>
              <a:path h="581320" w="581320">
                <a:moveTo>
                  <a:pt x="0" y="0"/>
                </a:moveTo>
                <a:lnTo>
                  <a:pt x="581321" y="0"/>
                </a:lnTo>
                <a:lnTo>
                  <a:pt x="581321" y="581320"/>
                </a:lnTo>
                <a:lnTo>
                  <a:pt x="0" y="581320"/>
                </a:lnTo>
                <a:lnTo>
                  <a:pt x="0" y="0"/>
                </a:lnTo>
                <a:close/>
              </a:path>
            </a:pathLst>
          </a:custGeom>
          <a:blipFill>
            <a:blip r:embed="rId3">
              <a:extLst>
                <a:ext uri="{96DAC541-7B7A-43D3-8B79-37D633B846F1}">
                  <asvg:svgBlip xmlns:asvg="http://schemas.microsoft.com/office/drawing/2016/SVG/main" r:embed="rId4"/>
                </a:ext>
              </a:extLst>
            </a:blip>
            <a:stretch>
              <a:fillRect l="-14515" t="0" r="-14517" b="0"/>
            </a:stretch>
          </a:blipFill>
        </p:spPr>
      </p:sp>
      <p:sp>
        <p:nvSpPr>
          <p:cNvPr name="TextBox 10" id="10"/>
          <p:cNvSpPr txBox="true"/>
          <p:nvPr/>
        </p:nvSpPr>
        <p:spPr>
          <a:xfrm rot="0">
            <a:off x="992238" y="4385520"/>
            <a:ext cx="2907211" cy="391868"/>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Collision Alert</a:t>
            </a:r>
          </a:p>
        </p:txBody>
      </p:sp>
      <p:sp>
        <p:nvSpPr>
          <p:cNvPr name="TextBox 11" id="11"/>
          <p:cNvSpPr txBox="true"/>
          <p:nvPr/>
        </p:nvSpPr>
        <p:spPr>
          <a:xfrm rot="0">
            <a:off x="992238" y="4860579"/>
            <a:ext cx="8015440" cy="408089"/>
          </a:xfrm>
          <a:prstGeom prst="rect">
            <a:avLst/>
          </a:prstGeom>
        </p:spPr>
        <p:txBody>
          <a:bodyPr anchor="t" rtlCol="false" tIns="0" lIns="0" bIns="0" rIns="0">
            <a:spAutoFit/>
          </a:bodyPr>
          <a:lstStyle/>
          <a:p>
            <a:pPr algn="l">
              <a:lnSpc>
                <a:spcPts val="2786"/>
              </a:lnSpc>
            </a:pPr>
            <a:r>
              <a:rPr lang="en-US" sz="1800">
                <a:solidFill>
                  <a:srgbClr val="333F70"/>
                </a:solidFill>
                <a:latin typeface="Open Sans"/>
                <a:ea typeface="Open Sans"/>
                <a:cs typeface="Open Sans"/>
                <a:sym typeface="Open Sans"/>
              </a:rPr>
              <a:t>Dynamic safe distance model triggered accurately at varying speeds</a:t>
            </a:r>
          </a:p>
        </p:txBody>
      </p:sp>
      <p:sp>
        <p:nvSpPr>
          <p:cNvPr name="Freeform 12" id="12" descr="preencoded.png"/>
          <p:cNvSpPr/>
          <p:nvPr/>
        </p:nvSpPr>
        <p:spPr>
          <a:xfrm flipH="false" flipV="false" rot="0">
            <a:off x="9280179" y="3560264"/>
            <a:ext cx="581320" cy="581320"/>
          </a:xfrm>
          <a:custGeom>
            <a:avLst/>
            <a:gdLst/>
            <a:ahLst/>
            <a:cxnLst/>
            <a:rect r="r" b="b" t="t" l="l"/>
            <a:pathLst>
              <a:path h="581320" w="581320">
                <a:moveTo>
                  <a:pt x="0" y="0"/>
                </a:moveTo>
                <a:lnTo>
                  <a:pt x="581320" y="0"/>
                </a:lnTo>
                <a:lnTo>
                  <a:pt x="581320" y="581320"/>
                </a:lnTo>
                <a:lnTo>
                  <a:pt x="0" y="581320"/>
                </a:lnTo>
                <a:lnTo>
                  <a:pt x="0" y="0"/>
                </a:lnTo>
                <a:close/>
              </a:path>
            </a:pathLst>
          </a:custGeom>
          <a:blipFill>
            <a:blip r:embed="rId5">
              <a:extLst>
                <a:ext uri="{96DAC541-7B7A-43D3-8B79-37D633B846F1}">
                  <asvg:svgBlip xmlns:asvg="http://schemas.microsoft.com/office/drawing/2016/SVG/main" r:embed="rId6"/>
                </a:ext>
              </a:extLst>
            </a:blip>
            <a:stretch>
              <a:fillRect l="-23386" t="0" r="-23388" b="0"/>
            </a:stretch>
          </a:blipFill>
        </p:spPr>
      </p:sp>
      <p:sp>
        <p:nvSpPr>
          <p:cNvPr name="TextBox 13" id="13"/>
          <p:cNvSpPr txBox="true"/>
          <p:nvPr/>
        </p:nvSpPr>
        <p:spPr>
          <a:xfrm rot="0">
            <a:off x="9280179" y="4385520"/>
            <a:ext cx="3141612" cy="391868"/>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Drowsiness Alert</a:t>
            </a:r>
          </a:p>
        </p:txBody>
      </p:sp>
      <p:sp>
        <p:nvSpPr>
          <p:cNvPr name="TextBox 14" id="14"/>
          <p:cNvSpPr txBox="true"/>
          <p:nvPr/>
        </p:nvSpPr>
        <p:spPr>
          <a:xfrm rot="0">
            <a:off x="9280179" y="4860579"/>
            <a:ext cx="8015583" cy="408089"/>
          </a:xfrm>
          <a:prstGeom prst="rect">
            <a:avLst/>
          </a:prstGeom>
        </p:spPr>
        <p:txBody>
          <a:bodyPr anchor="t" rtlCol="false" tIns="0" lIns="0" bIns="0" rIns="0">
            <a:spAutoFit/>
          </a:bodyPr>
          <a:lstStyle/>
          <a:p>
            <a:pPr algn="l">
              <a:lnSpc>
                <a:spcPts val="2786"/>
              </a:lnSpc>
            </a:pPr>
            <a:r>
              <a:rPr lang="en-US" sz="1800">
                <a:solidFill>
                  <a:srgbClr val="333F70"/>
                </a:solidFill>
                <a:latin typeface="Open Sans"/>
                <a:ea typeface="Open Sans"/>
                <a:cs typeface="Open Sans"/>
                <a:sym typeface="Open Sans"/>
              </a:rPr>
              <a:t>5-second no-blink detection with immediate buzzer and LED response</a:t>
            </a:r>
          </a:p>
        </p:txBody>
      </p:sp>
      <p:sp>
        <p:nvSpPr>
          <p:cNvPr name="Freeform 15" id="15" descr="preencoded.png"/>
          <p:cNvSpPr/>
          <p:nvPr/>
        </p:nvSpPr>
        <p:spPr>
          <a:xfrm flipH="false" flipV="false" rot="0">
            <a:off x="992238" y="5704732"/>
            <a:ext cx="581320" cy="581320"/>
          </a:xfrm>
          <a:custGeom>
            <a:avLst/>
            <a:gdLst/>
            <a:ahLst/>
            <a:cxnLst/>
            <a:rect r="r" b="b" t="t" l="l"/>
            <a:pathLst>
              <a:path h="581320" w="581320">
                <a:moveTo>
                  <a:pt x="0" y="0"/>
                </a:moveTo>
                <a:lnTo>
                  <a:pt x="581321" y="0"/>
                </a:lnTo>
                <a:lnTo>
                  <a:pt x="581321" y="581320"/>
                </a:lnTo>
                <a:lnTo>
                  <a:pt x="0" y="581320"/>
                </a:lnTo>
                <a:lnTo>
                  <a:pt x="0" y="0"/>
                </a:lnTo>
                <a:close/>
              </a:path>
            </a:pathLst>
          </a:custGeom>
          <a:blipFill>
            <a:blip r:embed="rId7">
              <a:extLst>
                <a:ext uri="{96DAC541-7B7A-43D3-8B79-37D633B846F1}">
                  <asvg:svgBlip xmlns:asvg="http://schemas.microsoft.com/office/drawing/2016/SVG/main" r:embed="rId8"/>
                </a:ext>
              </a:extLst>
            </a:blip>
            <a:stretch>
              <a:fillRect l="-14515" t="0" r="-14517" b="0"/>
            </a:stretch>
          </a:blipFill>
        </p:spPr>
      </p:sp>
      <p:sp>
        <p:nvSpPr>
          <p:cNvPr name="TextBox 16" id="16"/>
          <p:cNvSpPr txBox="true"/>
          <p:nvPr/>
        </p:nvSpPr>
        <p:spPr>
          <a:xfrm rot="0">
            <a:off x="992238" y="6529988"/>
            <a:ext cx="3610718" cy="391868"/>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Overspeed Warning</a:t>
            </a:r>
          </a:p>
        </p:txBody>
      </p:sp>
      <p:sp>
        <p:nvSpPr>
          <p:cNvPr name="TextBox 17" id="17"/>
          <p:cNvSpPr txBox="true"/>
          <p:nvPr/>
        </p:nvSpPr>
        <p:spPr>
          <a:xfrm rot="0">
            <a:off x="992238" y="7005047"/>
            <a:ext cx="8015440" cy="408089"/>
          </a:xfrm>
          <a:prstGeom prst="rect">
            <a:avLst/>
          </a:prstGeom>
        </p:spPr>
        <p:txBody>
          <a:bodyPr anchor="t" rtlCol="false" tIns="0" lIns="0" bIns="0" rIns="0">
            <a:spAutoFit/>
          </a:bodyPr>
          <a:lstStyle/>
          <a:p>
            <a:pPr algn="l">
              <a:lnSpc>
                <a:spcPts val="2786"/>
              </a:lnSpc>
            </a:pPr>
            <a:r>
              <a:rPr lang="en-US" sz="1800">
                <a:solidFill>
                  <a:srgbClr val="333F70"/>
                </a:solidFill>
                <a:latin typeface="Open Sans"/>
                <a:ea typeface="Open Sans"/>
                <a:cs typeface="Open Sans"/>
                <a:sym typeface="Open Sans"/>
              </a:rPr>
              <a:t>GPS-derived speed exceeding configured threshold reliably flagged</a:t>
            </a:r>
          </a:p>
        </p:txBody>
      </p:sp>
      <p:sp>
        <p:nvSpPr>
          <p:cNvPr name="Freeform 18" id="18" descr="preencoded.png"/>
          <p:cNvSpPr/>
          <p:nvPr/>
        </p:nvSpPr>
        <p:spPr>
          <a:xfrm flipH="false" flipV="false" rot="0">
            <a:off x="9280179" y="5704732"/>
            <a:ext cx="581320" cy="581320"/>
          </a:xfrm>
          <a:custGeom>
            <a:avLst/>
            <a:gdLst/>
            <a:ahLst/>
            <a:cxnLst/>
            <a:rect r="r" b="b" t="t" l="l"/>
            <a:pathLst>
              <a:path h="581320" w="581320">
                <a:moveTo>
                  <a:pt x="0" y="0"/>
                </a:moveTo>
                <a:lnTo>
                  <a:pt x="581320" y="0"/>
                </a:lnTo>
                <a:lnTo>
                  <a:pt x="581320" y="581320"/>
                </a:lnTo>
                <a:lnTo>
                  <a:pt x="0" y="581320"/>
                </a:lnTo>
                <a:lnTo>
                  <a:pt x="0" y="0"/>
                </a:lnTo>
                <a:close/>
              </a:path>
            </a:pathLst>
          </a:custGeom>
          <a:blipFill>
            <a:blip r:embed="rId9">
              <a:extLst>
                <a:ext uri="{96DAC541-7B7A-43D3-8B79-37D633B846F1}">
                  <asvg:svgBlip xmlns:asvg="http://schemas.microsoft.com/office/drawing/2016/SVG/main" r:embed="rId10"/>
                </a:ext>
              </a:extLst>
            </a:blip>
            <a:stretch>
              <a:fillRect l="-806" t="0" r="-807" b="0"/>
            </a:stretch>
          </a:blipFill>
        </p:spPr>
      </p:sp>
      <p:sp>
        <p:nvSpPr>
          <p:cNvPr name="TextBox 19" id="19"/>
          <p:cNvSpPr txBox="true"/>
          <p:nvPr/>
        </p:nvSpPr>
        <p:spPr>
          <a:xfrm rot="0">
            <a:off x="9280179" y="6529988"/>
            <a:ext cx="2907211" cy="391868"/>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Harsh Braking</a:t>
            </a:r>
          </a:p>
        </p:txBody>
      </p:sp>
      <p:sp>
        <p:nvSpPr>
          <p:cNvPr name="TextBox 20" id="20"/>
          <p:cNvSpPr txBox="true"/>
          <p:nvPr/>
        </p:nvSpPr>
        <p:spPr>
          <a:xfrm rot="0">
            <a:off x="9280179" y="7005047"/>
            <a:ext cx="8015583" cy="408089"/>
          </a:xfrm>
          <a:prstGeom prst="rect">
            <a:avLst/>
          </a:prstGeom>
        </p:spPr>
        <p:txBody>
          <a:bodyPr anchor="t" rtlCol="false" tIns="0" lIns="0" bIns="0" rIns="0">
            <a:spAutoFit/>
          </a:bodyPr>
          <a:lstStyle/>
          <a:p>
            <a:pPr algn="l">
              <a:lnSpc>
                <a:spcPts val="2786"/>
              </a:lnSpc>
            </a:pPr>
            <a:r>
              <a:rPr lang="en-US" sz="1800">
                <a:solidFill>
                  <a:srgbClr val="333F70"/>
                </a:solidFill>
                <a:latin typeface="Open Sans"/>
                <a:ea typeface="Open Sans"/>
                <a:cs typeface="Open Sans"/>
                <a:sym typeface="Open Sans"/>
              </a:rPr>
              <a:t>IMU accelerometer threshold of −0.3 g accurately detected</a:t>
            </a:r>
          </a:p>
        </p:txBody>
      </p:sp>
      <p:sp>
        <p:nvSpPr>
          <p:cNvPr name="Freeform 21" id="21" descr="preencoded.png"/>
          <p:cNvSpPr/>
          <p:nvPr/>
        </p:nvSpPr>
        <p:spPr>
          <a:xfrm flipH="false" flipV="false" rot="0">
            <a:off x="992238" y="7849200"/>
            <a:ext cx="581320" cy="581320"/>
          </a:xfrm>
          <a:custGeom>
            <a:avLst/>
            <a:gdLst/>
            <a:ahLst/>
            <a:cxnLst/>
            <a:rect r="r" b="b" t="t" l="l"/>
            <a:pathLst>
              <a:path h="581320" w="581320">
                <a:moveTo>
                  <a:pt x="0" y="0"/>
                </a:moveTo>
                <a:lnTo>
                  <a:pt x="581321" y="0"/>
                </a:lnTo>
                <a:lnTo>
                  <a:pt x="581321" y="581320"/>
                </a:lnTo>
                <a:lnTo>
                  <a:pt x="0" y="581320"/>
                </a:lnTo>
                <a:lnTo>
                  <a:pt x="0" y="0"/>
                </a:lnTo>
                <a:close/>
              </a:path>
            </a:pathLst>
          </a:custGeom>
          <a:blipFill>
            <a:blip r:embed="rId11">
              <a:extLst>
                <a:ext uri="{96DAC541-7B7A-43D3-8B79-37D633B846F1}">
                  <asvg:svgBlip xmlns:asvg="http://schemas.microsoft.com/office/drawing/2016/SVG/main" r:embed="rId12"/>
                </a:ext>
              </a:extLst>
            </a:blip>
            <a:stretch>
              <a:fillRect l="-9677" t="0" r="-9678" b="0"/>
            </a:stretch>
          </a:blipFill>
        </p:spPr>
      </p:sp>
      <p:sp>
        <p:nvSpPr>
          <p:cNvPr name="TextBox 22" id="22"/>
          <p:cNvSpPr txBox="true"/>
          <p:nvPr/>
        </p:nvSpPr>
        <p:spPr>
          <a:xfrm rot="0">
            <a:off x="992238" y="8674446"/>
            <a:ext cx="3524402" cy="391868"/>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Harsh Acceleration</a:t>
            </a:r>
          </a:p>
        </p:txBody>
      </p:sp>
      <p:sp>
        <p:nvSpPr>
          <p:cNvPr name="TextBox 23" id="23"/>
          <p:cNvSpPr txBox="true"/>
          <p:nvPr/>
        </p:nvSpPr>
        <p:spPr>
          <a:xfrm rot="0">
            <a:off x="992238" y="9149505"/>
            <a:ext cx="8015440" cy="408089"/>
          </a:xfrm>
          <a:prstGeom prst="rect">
            <a:avLst/>
          </a:prstGeom>
        </p:spPr>
        <p:txBody>
          <a:bodyPr anchor="t" rtlCol="false" tIns="0" lIns="0" bIns="0" rIns="0">
            <a:spAutoFit/>
          </a:bodyPr>
          <a:lstStyle/>
          <a:p>
            <a:pPr algn="l">
              <a:lnSpc>
                <a:spcPts val="2786"/>
              </a:lnSpc>
            </a:pPr>
            <a:r>
              <a:rPr lang="en-US" sz="1800">
                <a:solidFill>
                  <a:srgbClr val="333F70"/>
                </a:solidFill>
                <a:latin typeface="Open Sans"/>
                <a:ea typeface="Open Sans"/>
                <a:cs typeface="Open Sans"/>
                <a:sym typeface="Open Sans"/>
              </a:rPr>
              <a:t>Positive longitudinal acceleration beyond +0.3 g consistently captured</a:t>
            </a:r>
          </a:p>
        </p:txBody>
      </p:sp>
      <p:sp>
        <p:nvSpPr>
          <p:cNvPr name="Freeform 24" id="24" descr="preencoded.png"/>
          <p:cNvSpPr/>
          <p:nvPr/>
        </p:nvSpPr>
        <p:spPr>
          <a:xfrm flipH="false" flipV="false" rot="0">
            <a:off x="9280179" y="7849200"/>
            <a:ext cx="581320" cy="581320"/>
          </a:xfrm>
          <a:custGeom>
            <a:avLst/>
            <a:gdLst/>
            <a:ahLst/>
            <a:cxnLst/>
            <a:rect r="r" b="b" t="t" l="l"/>
            <a:pathLst>
              <a:path h="581320" w="581320">
                <a:moveTo>
                  <a:pt x="0" y="0"/>
                </a:moveTo>
                <a:lnTo>
                  <a:pt x="581320" y="0"/>
                </a:lnTo>
                <a:lnTo>
                  <a:pt x="581320" y="581320"/>
                </a:lnTo>
                <a:lnTo>
                  <a:pt x="0" y="58132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25" id="25"/>
          <p:cNvSpPr txBox="true"/>
          <p:nvPr/>
        </p:nvSpPr>
        <p:spPr>
          <a:xfrm rot="0">
            <a:off x="9280179" y="8674446"/>
            <a:ext cx="2907211" cy="391868"/>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Harsh Turning</a:t>
            </a:r>
          </a:p>
        </p:txBody>
      </p:sp>
      <p:sp>
        <p:nvSpPr>
          <p:cNvPr name="TextBox 26" id="26"/>
          <p:cNvSpPr txBox="true"/>
          <p:nvPr/>
        </p:nvSpPr>
        <p:spPr>
          <a:xfrm rot="0">
            <a:off x="9280179" y="9149505"/>
            <a:ext cx="8015583" cy="408089"/>
          </a:xfrm>
          <a:prstGeom prst="rect">
            <a:avLst/>
          </a:prstGeom>
        </p:spPr>
        <p:txBody>
          <a:bodyPr anchor="t" rtlCol="false" tIns="0" lIns="0" bIns="0" rIns="0">
            <a:spAutoFit/>
          </a:bodyPr>
          <a:lstStyle/>
          <a:p>
            <a:pPr algn="l">
              <a:lnSpc>
                <a:spcPts val="2786"/>
              </a:lnSpc>
            </a:pPr>
            <a:r>
              <a:rPr lang="en-US" sz="1800">
                <a:solidFill>
                  <a:srgbClr val="333F70"/>
                </a:solidFill>
                <a:latin typeface="Open Sans"/>
                <a:ea typeface="Open Sans"/>
                <a:cs typeface="Open Sans"/>
                <a:sym typeface="Open Sans"/>
              </a:rPr>
              <a:t>Gyroscope Z-axis rate exceeding 60°/s triggered cornering alerts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6F5E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92238" y="749351"/>
            <a:ext cx="5624360" cy="379809"/>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Challenges &amp; Future Scope</a:t>
            </a:r>
          </a:p>
        </p:txBody>
      </p:sp>
      <p:sp>
        <p:nvSpPr>
          <p:cNvPr name="TextBox 7" id="7"/>
          <p:cNvSpPr txBox="true"/>
          <p:nvPr/>
        </p:nvSpPr>
        <p:spPr>
          <a:xfrm rot="0">
            <a:off x="992238" y="1172470"/>
            <a:ext cx="12331598" cy="740721"/>
          </a:xfrm>
          <a:prstGeom prst="rect">
            <a:avLst/>
          </a:prstGeom>
        </p:spPr>
        <p:txBody>
          <a:bodyPr anchor="t" rtlCol="false" tIns="0" lIns="0" bIns="0" rIns="0">
            <a:spAutoFit/>
          </a:bodyPr>
          <a:lstStyle/>
          <a:p>
            <a:pPr algn="l">
              <a:lnSpc>
                <a:spcPts val="5491"/>
              </a:lnSpc>
            </a:pPr>
            <a:r>
              <a:rPr lang="en-US" sz="4400" b="true">
                <a:solidFill>
                  <a:srgbClr val="333F70"/>
                </a:solidFill>
                <a:latin typeface="Arimo Bold"/>
                <a:ea typeface="Arimo Bold"/>
                <a:cs typeface="Arimo Bold"/>
                <a:sym typeface="Arimo Bold"/>
              </a:rPr>
              <a:t>Engineering Insights &amp; Roadmap</a:t>
            </a:r>
          </a:p>
        </p:txBody>
      </p:sp>
      <p:sp>
        <p:nvSpPr>
          <p:cNvPr name="TextBox 8" id="8"/>
          <p:cNvSpPr txBox="true"/>
          <p:nvPr/>
        </p:nvSpPr>
        <p:spPr>
          <a:xfrm rot="0">
            <a:off x="992238" y="2393899"/>
            <a:ext cx="5224015" cy="379809"/>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Challenges Encountered</a:t>
            </a:r>
          </a:p>
        </p:txBody>
      </p:sp>
      <p:sp>
        <p:nvSpPr>
          <p:cNvPr name="Freeform 9" id="9" descr="preencoded.png"/>
          <p:cNvSpPr/>
          <p:nvPr/>
        </p:nvSpPr>
        <p:spPr>
          <a:xfrm flipH="false" flipV="false" rot="0">
            <a:off x="963663" y="2974334"/>
            <a:ext cx="3671440" cy="1649168"/>
          </a:xfrm>
          <a:custGeom>
            <a:avLst/>
            <a:gdLst/>
            <a:ahLst/>
            <a:cxnLst/>
            <a:rect r="r" b="b" t="t" l="l"/>
            <a:pathLst>
              <a:path h="1649168" w="3671440">
                <a:moveTo>
                  <a:pt x="0" y="0"/>
                </a:moveTo>
                <a:lnTo>
                  <a:pt x="3671440" y="0"/>
                </a:lnTo>
                <a:lnTo>
                  <a:pt x="3671440" y="1649168"/>
                </a:lnTo>
                <a:lnTo>
                  <a:pt x="0" y="1649168"/>
                </a:lnTo>
                <a:lnTo>
                  <a:pt x="0" y="0"/>
                </a:lnTo>
                <a:close/>
              </a:path>
            </a:pathLst>
          </a:custGeom>
          <a:blipFill>
            <a:blip r:embed="rId3">
              <a:extLst>
                <a:ext uri="{96DAC541-7B7A-43D3-8B79-37D633B846F1}">
                  <asvg:svgBlip xmlns:asvg="http://schemas.microsoft.com/office/drawing/2016/SVG/main" r:embed="rId4"/>
                </a:ext>
              </a:extLst>
            </a:blip>
            <a:stretch>
              <a:fillRect l="0" t="-176" r="0" b="-177"/>
            </a:stretch>
          </a:blipFill>
        </p:spPr>
      </p:sp>
      <p:sp>
        <p:nvSpPr>
          <p:cNvPr name="TextBox 10" id="10"/>
          <p:cNvSpPr txBox="true"/>
          <p:nvPr/>
        </p:nvSpPr>
        <p:spPr>
          <a:xfrm rot="0">
            <a:off x="1274121" y="2974334"/>
            <a:ext cx="2810323" cy="379809"/>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Sensor Noise</a:t>
            </a:r>
          </a:p>
        </p:txBody>
      </p:sp>
      <p:sp>
        <p:nvSpPr>
          <p:cNvPr name="TextBox 11" id="11"/>
          <p:cNvSpPr txBox="true"/>
          <p:nvPr/>
        </p:nvSpPr>
        <p:spPr>
          <a:xfrm rot="0">
            <a:off x="1274121" y="3510258"/>
            <a:ext cx="3360982" cy="1076325"/>
          </a:xfrm>
          <a:prstGeom prst="rect">
            <a:avLst/>
          </a:prstGeom>
        </p:spPr>
        <p:txBody>
          <a:bodyPr anchor="t" rtlCol="false" tIns="0" lIns="0" bIns="0" rIns="0">
            <a:spAutoFit/>
          </a:bodyPr>
          <a:lstStyle/>
          <a:p>
            <a:pPr algn="l">
              <a:lnSpc>
                <a:spcPts val="2590"/>
              </a:lnSpc>
            </a:pPr>
            <a:r>
              <a:rPr lang="en-US" sz="1700">
                <a:solidFill>
                  <a:srgbClr val="333F70"/>
                </a:solidFill>
                <a:latin typeface="Open Sans"/>
                <a:ea typeface="Open Sans"/>
                <a:cs typeface="Open Sans"/>
                <a:sym typeface="Open Sans"/>
              </a:rPr>
              <a:t>MPU6050 accelerometer and gyroscope readings required software filtering</a:t>
            </a:r>
          </a:p>
        </p:txBody>
      </p:sp>
      <p:sp>
        <p:nvSpPr>
          <p:cNvPr name="Freeform 12" id="12" descr="preencoded.png"/>
          <p:cNvSpPr/>
          <p:nvPr/>
        </p:nvSpPr>
        <p:spPr>
          <a:xfrm flipH="false" flipV="false" rot="0">
            <a:off x="4861169" y="2974334"/>
            <a:ext cx="3671440" cy="1649168"/>
          </a:xfrm>
          <a:custGeom>
            <a:avLst/>
            <a:gdLst/>
            <a:ahLst/>
            <a:cxnLst/>
            <a:rect r="r" b="b" t="t" l="l"/>
            <a:pathLst>
              <a:path h="1649168" w="3671440">
                <a:moveTo>
                  <a:pt x="0" y="0"/>
                </a:moveTo>
                <a:lnTo>
                  <a:pt x="3671440" y="0"/>
                </a:lnTo>
                <a:lnTo>
                  <a:pt x="3671440" y="1649168"/>
                </a:lnTo>
                <a:lnTo>
                  <a:pt x="0" y="1649168"/>
                </a:lnTo>
                <a:lnTo>
                  <a:pt x="0" y="0"/>
                </a:lnTo>
                <a:close/>
              </a:path>
            </a:pathLst>
          </a:custGeom>
          <a:blipFill>
            <a:blip r:embed="rId3">
              <a:extLst>
                <a:ext uri="{96DAC541-7B7A-43D3-8B79-37D633B846F1}">
                  <asvg:svgBlip xmlns:asvg="http://schemas.microsoft.com/office/drawing/2016/SVG/main" r:embed="rId4"/>
                </a:ext>
              </a:extLst>
            </a:blip>
            <a:stretch>
              <a:fillRect l="0" t="-176" r="0" b="-177"/>
            </a:stretch>
          </a:blipFill>
        </p:spPr>
      </p:sp>
      <p:sp>
        <p:nvSpPr>
          <p:cNvPr name="TextBox 13" id="13"/>
          <p:cNvSpPr txBox="true"/>
          <p:nvPr/>
        </p:nvSpPr>
        <p:spPr>
          <a:xfrm rot="0">
            <a:off x="5171627" y="2974334"/>
            <a:ext cx="3360982" cy="731044"/>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GPS Update Latency</a:t>
            </a:r>
          </a:p>
        </p:txBody>
      </p:sp>
      <p:sp>
        <p:nvSpPr>
          <p:cNvPr name="TextBox 14" id="14"/>
          <p:cNvSpPr txBox="true"/>
          <p:nvPr/>
        </p:nvSpPr>
        <p:spPr>
          <a:xfrm rot="0">
            <a:off x="5171627" y="3861492"/>
            <a:ext cx="3360982" cy="625373"/>
          </a:xfrm>
          <a:prstGeom prst="rect">
            <a:avLst/>
          </a:prstGeom>
        </p:spPr>
        <p:txBody>
          <a:bodyPr anchor="t" rtlCol="false" tIns="0" lIns="0" bIns="0" rIns="0">
            <a:spAutoFit/>
          </a:bodyPr>
          <a:lstStyle/>
          <a:p>
            <a:pPr algn="l">
              <a:lnSpc>
                <a:spcPts val="2590"/>
              </a:lnSpc>
            </a:pPr>
            <a:r>
              <a:rPr lang="en-US" sz="1700">
                <a:solidFill>
                  <a:srgbClr val="333F70"/>
                </a:solidFill>
                <a:latin typeface="Open Sans"/>
                <a:ea typeface="Open Sans"/>
                <a:cs typeface="Open Sans"/>
                <a:sym typeface="Open Sans"/>
              </a:rPr>
              <a:t>1 Hz NMEA update rate limited overspeed detection granularity</a:t>
            </a:r>
          </a:p>
        </p:txBody>
      </p:sp>
      <p:sp>
        <p:nvSpPr>
          <p:cNvPr name="Freeform 15" id="15" descr="preencoded.png"/>
          <p:cNvSpPr/>
          <p:nvPr/>
        </p:nvSpPr>
        <p:spPr>
          <a:xfrm flipH="false" flipV="false" rot="0">
            <a:off x="963663" y="4973841"/>
            <a:ext cx="3671440" cy="1992068"/>
          </a:xfrm>
          <a:custGeom>
            <a:avLst/>
            <a:gdLst/>
            <a:ahLst/>
            <a:cxnLst/>
            <a:rect r="r" b="b" t="t" l="l"/>
            <a:pathLst>
              <a:path h="1992068" w="3671440">
                <a:moveTo>
                  <a:pt x="0" y="0"/>
                </a:moveTo>
                <a:lnTo>
                  <a:pt x="3671440" y="0"/>
                </a:lnTo>
                <a:lnTo>
                  <a:pt x="3671440" y="1992068"/>
                </a:lnTo>
                <a:lnTo>
                  <a:pt x="0" y="1992068"/>
                </a:lnTo>
                <a:lnTo>
                  <a:pt x="0" y="0"/>
                </a:lnTo>
                <a:close/>
              </a:path>
            </a:pathLst>
          </a:custGeom>
          <a:blipFill>
            <a:blip r:embed="rId5">
              <a:extLst>
                <a:ext uri="{96DAC541-7B7A-43D3-8B79-37D633B846F1}">
                  <asvg:svgBlip xmlns:asvg="http://schemas.microsoft.com/office/drawing/2016/SVG/main" r:embed="rId6"/>
                </a:ext>
              </a:extLst>
            </a:blip>
            <a:stretch>
              <a:fillRect l="0" t="-134" r="0" b="-134"/>
            </a:stretch>
          </a:blipFill>
        </p:spPr>
      </p:sp>
      <p:sp>
        <p:nvSpPr>
          <p:cNvPr name="TextBox 16" id="16"/>
          <p:cNvSpPr txBox="true"/>
          <p:nvPr/>
        </p:nvSpPr>
        <p:spPr>
          <a:xfrm rot="0">
            <a:off x="1274121" y="4973831"/>
            <a:ext cx="3033265" cy="379809"/>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Threshold Tuning</a:t>
            </a:r>
          </a:p>
        </p:txBody>
      </p:sp>
      <p:sp>
        <p:nvSpPr>
          <p:cNvPr name="TextBox 17" id="17"/>
          <p:cNvSpPr txBox="true"/>
          <p:nvPr/>
        </p:nvSpPr>
        <p:spPr>
          <a:xfrm rot="0">
            <a:off x="1274121" y="5509765"/>
            <a:ext cx="3360982" cy="1076325"/>
          </a:xfrm>
          <a:prstGeom prst="rect">
            <a:avLst/>
          </a:prstGeom>
        </p:spPr>
        <p:txBody>
          <a:bodyPr anchor="t" rtlCol="false" tIns="0" lIns="0" bIns="0" rIns="0">
            <a:spAutoFit/>
          </a:bodyPr>
          <a:lstStyle/>
          <a:p>
            <a:pPr algn="l">
              <a:lnSpc>
                <a:spcPts val="2590"/>
              </a:lnSpc>
            </a:pPr>
            <a:r>
              <a:rPr lang="en-US" sz="1700">
                <a:solidFill>
                  <a:srgbClr val="333F70"/>
                </a:solidFill>
                <a:latin typeface="Open Sans"/>
                <a:ea typeface="Open Sans"/>
                <a:cs typeface="Open Sans"/>
                <a:sym typeface="Open Sans"/>
              </a:rPr>
              <a:t>Calibrating g-force and angular rate thresholds for varied driving profiles</a:t>
            </a:r>
          </a:p>
        </p:txBody>
      </p:sp>
      <p:sp>
        <p:nvSpPr>
          <p:cNvPr name="Freeform 18" id="18" descr="preencoded.png"/>
          <p:cNvSpPr/>
          <p:nvPr/>
        </p:nvSpPr>
        <p:spPr>
          <a:xfrm flipH="false" flipV="false" rot="0">
            <a:off x="4861169" y="4973841"/>
            <a:ext cx="3671440" cy="1992068"/>
          </a:xfrm>
          <a:custGeom>
            <a:avLst/>
            <a:gdLst/>
            <a:ahLst/>
            <a:cxnLst/>
            <a:rect r="r" b="b" t="t" l="l"/>
            <a:pathLst>
              <a:path h="1992068" w="3671440">
                <a:moveTo>
                  <a:pt x="0" y="0"/>
                </a:moveTo>
                <a:lnTo>
                  <a:pt x="3671440" y="0"/>
                </a:lnTo>
                <a:lnTo>
                  <a:pt x="3671440" y="1992068"/>
                </a:lnTo>
                <a:lnTo>
                  <a:pt x="0" y="1992068"/>
                </a:lnTo>
                <a:lnTo>
                  <a:pt x="0" y="0"/>
                </a:lnTo>
                <a:close/>
              </a:path>
            </a:pathLst>
          </a:custGeom>
          <a:blipFill>
            <a:blip r:embed="rId5">
              <a:extLst>
                <a:ext uri="{96DAC541-7B7A-43D3-8B79-37D633B846F1}">
                  <asvg:svgBlip xmlns:asvg="http://schemas.microsoft.com/office/drawing/2016/SVG/main" r:embed="rId6"/>
                </a:ext>
              </a:extLst>
            </a:blip>
            <a:stretch>
              <a:fillRect l="0" t="-134" r="0" b="-134"/>
            </a:stretch>
          </a:blipFill>
        </p:spPr>
      </p:sp>
      <p:sp>
        <p:nvSpPr>
          <p:cNvPr name="TextBox 19" id="19"/>
          <p:cNvSpPr txBox="true"/>
          <p:nvPr/>
        </p:nvSpPr>
        <p:spPr>
          <a:xfrm rot="0">
            <a:off x="5171627" y="4973831"/>
            <a:ext cx="3360982" cy="731044"/>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Sensor Synchronization</a:t>
            </a:r>
          </a:p>
        </p:txBody>
      </p:sp>
      <p:sp>
        <p:nvSpPr>
          <p:cNvPr name="TextBox 20" id="20"/>
          <p:cNvSpPr txBox="true"/>
          <p:nvPr/>
        </p:nvSpPr>
        <p:spPr>
          <a:xfrm rot="0">
            <a:off x="5171627" y="5860999"/>
            <a:ext cx="3360982" cy="1076325"/>
          </a:xfrm>
          <a:prstGeom prst="rect">
            <a:avLst/>
          </a:prstGeom>
        </p:spPr>
        <p:txBody>
          <a:bodyPr anchor="t" rtlCol="false" tIns="0" lIns="0" bIns="0" rIns="0">
            <a:spAutoFit/>
          </a:bodyPr>
          <a:lstStyle/>
          <a:p>
            <a:pPr algn="l">
              <a:lnSpc>
                <a:spcPts val="2590"/>
              </a:lnSpc>
            </a:pPr>
            <a:r>
              <a:rPr lang="en-US" sz="1700">
                <a:solidFill>
                  <a:srgbClr val="333F70"/>
                </a:solidFill>
                <a:latin typeface="Open Sans"/>
                <a:ea typeface="Open Sans"/>
                <a:cs typeface="Open Sans"/>
                <a:sym typeface="Open Sans"/>
              </a:rPr>
              <a:t>Coordinating async UART and I²C reads within the main loop cycle</a:t>
            </a:r>
          </a:p>
        </p:txBody>
      </p:sp>
      <p:sp>
        <p:nvSpPr>
          <p:cNvPr name="Freeform 21" id="21" descr="preencoded.png"/>
          <p:cNvSpPr/>
          <p:nvPr/>
        </p:nvSpPr>
        <p:spPr>
          <a:xfrm flipH="false" flipV="false" rot="0">
            <a:off x="963663" y="7316238"/>
            <a:ext cx="7568956" cy="1297934"/>
          </a:xfrm>
          <a:custGeom>
            <a:avLst/>
            <a:gdLst/>
            <a:ahLst/>
            <a:cxnLst/>
            <a:rect r="r" b="b" t="t" l="l"/>
            <a:pathLst>
              <a:path h="1297934" w="7568956">
                <a:moveTo>
                  <a:pt x="0" y="0"/>
                </a:moveTo>
                <a:lnTo>
                  <a:pt x="7568956" y="0"/>
                </a:lnTo>
                <a:lnTo>
                  <a:pt x="7568956" y="1297934"/>
                </a:lnTo>
                <a:lnTo>
                  <a:pt x="0" y="1297934"/>
                </a:lnTo>
                <a:lnTo>
                  <a:pt x="0" y="0"/>
                </a:lnTo>
                <a:close/>
              </a:path>
            </a:pathLst>
          </a:custGeom>
          <a:blipFill>
            <a:blip r:embed="rId7">
              <a:extLst>
                <a:ext uri="{96DAC541-7B7A-43D3-8B79-37D633B846F1}">
                  <asvg:svgBlip xmlns:asvg="http://schemas.microsoft.com/office/drawing/2016/SVG/main" r:embed="rId8"/>
                </a:ext>
              </a:extLst>
            </a:blip>
            <a:stretch>
              <a:fillRect l="0" t="-246" r="0" b="-246"/>
            </a:stretch>
          </a:blipFill>
        </p:spPr>
      </p:sp>
      <p:sp>
        <p:nvSpPr>
          <p:cNvPr name="TextBox 22" id="22"/>
          <p:cNvSpPr txBox="true"/>
          <p:nvPr/>
        </p:nvSpPr>
        <p:spPr>
          <a:xfrm rot="0">
            <a:off x="1274121" y="7316238"/>
            <a:ext cx="3954361" cy="379809"/>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Ultrasonic Limitations</a:t>
            </a:r>
          </a:p>
        </p:txBody>
      </p:sp>
      <p:sp>
        <p:nvSpPr>
          <p:cNvPr name="TextBox 23" id="23"/>
          <p:cNvSpPr txBox="true"/>
          <p:nvPr/>
        </p:nvSpPr>
        <p:spPr>
          <a:xfrm rot="0">
            <a:off x="1274121" y="7852172"/>
            <a:ext cx="7258498" cy="733425"/>
          </a:xfrm>
          <a:prstGeom prst="rect">
            <a:avLst/>
          </a:prstGeom>
        </p:spPr>
        <p:txBody>
          <a:bodyPr anchor="t" rtlCol="false" tIns="0" lIns="0" bIns="0" rIns="0">
            <a:spAutoFit/>
          </a:bodyPr>
          <a:lstStyle/>
          <a:p>
            <a:pPr algn="l">
              <a:lnSpc>
                <a:spcPts val="2590"/>
              </a:lnSpc>
            </a:pPr>
            <a:r>
              <a:rPr lang="en-US" sz="1700">
                <a:solidFill>
                  <a:srgbClr val="333F70"/>
                </a:solidFill>
                <a:latin typeface="Open Sans"/>
                <a:ea typeface="Open Sans"/>
                <a:cs typeface="Open Sans"/>
                <a:sym typeface="Open Sans"/>
              </a:rPr>
              <a:t>Narrow beam angle and 400 cm max range constrained obstacle coverage</a:t>
            </a:r>
          </a:p>
        </p:txBody>
      </p:sp>
      <p:grpSp>
        <p:nvGrpSpPr>
          <p:cNvPr name="Group 24" id="24"/>
          <p:cNvGrpSpPr/>
          <p:nvPr/>
        </p:nvGrpSpPr>
        <p:grpSpPr>
          <a:xfrm rot="0">
            <a:off x="8928792" y="2218734"/>
            <a:ext cx="8538267" cy="7290197"/>
            <a:chOff x="0" y="0"/>
            <a:chExt cx="11384356" cy="9720262"/>
          </a:xfrm>
        </p:grpSpPr>
        <p:sp>
          <p:nvSpPr>
            <p:cNvPr name="Freeform 25" id="25"/>
            <p:cNvSpPr/>
            <p:nvPr/>
          </p:nvSpPr>
          <p:spPr>
            <a:xfrm flipH="false" flipV="false" rot="0">
              <a:off x="0" y="0"/>
              <a:ext cx="11384407" cy="9720326"/>
            </a:xfrm>
            <a:custGeom>
              <a:avLst/>
              <a:gdLst/>
              <a:ahLst/>
              <a:cxnLst/>
              <a:rect r="r" b="b" t="t" l="l"/>
              <a:pathLst>
                <a:path h="9720326" w="11384407">
                  <a:moveTo>
                    <a:pt x="0" y="215900"/>
                  </a:moveTo>
                  <a:cubicBezTo>
                    <a:pt x="0" y="96647"/>
                    <a:pt x="96647" y="0"/>
                    <a:pt x="215900" y="0"/>
                  </a:cubicBezTo>
                  <a:lnTo>
                    <a:pt x="11168507" y="0"/>
                  </a:lnTo>
                  <a:cubicBezTo>
                    <a:pt x="11287760" y="0"/>
                    <a:pt x="11384407" y="96647"/>
                    <a:pt x="11384407" y="215900"/>
                  </a:cubicBezTo>
                  <a:lnTo>
                    <a:pt x="11384407" y="9504426"/>
                  </a:lnTo>
                  <a:cubicBezTo>
                    <a:pt x="11384407" y="9623679"/>
                    <a:pt x="11287760" y="9720326"/>
                    <a:pt x="11168507" y="9720326"/>
                  </a:cubicBezTo>
                  <a:lnTo>
                    <a:pt x="215900" y="9720326"/>
                  </a:lnTo>
                  <a:cubicBezTo>
                    <a:pt x="96647" y="9720326"/>
                    <a:pt x="0" y="9623679"/>
                    <a:pt x="0" y="9504426"/>
                  </a:cubicBezTo>
                  <a:close/>
                </a:path>
              </a:pathLst>
            </a:custGeom>
            <a:solidFill>
              <a:srgbClr val="DDF8F2"/>
            </a:solidFill>
          </p:spPr>
        </p:sp>
      </p:grpSp>
      <p:sp>
        <p:nvSpPr>
          <p:cNvPr name="TextBox 26" id="26"/>
          <p:cNvSpPr txBox="true"/>
          <p:nvPr/>
        </p:nvSpPr>
        <p:spPr>
          <a:xfrm rot="0">
            <a:off x="9153525" y="2393899"/>
            <a:ext cx="4839300" cy="379809"/>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Future Enhancements</a:t>
            </a:r>
          </a:p>
        </p:txBody>
      </p:sp>
      <p:sp>
        <p:nvSpPr>
          <p:cNvPr name="Freeform 27" id="27" descr="preencoded.png"/>
          <p:cNvSpPr/>
          <p:nvPr/>
        </p:nvSpPr>
        <p:spPr>
          <a:xfrm flipH="false" flipV="false" rot="0">
            <a:off x="9124950" y="2974334"/>
            <a:ext cx="3945579" cy="1992068"/>
          </a:xfrm>
          <a:custGeom>
            <a:avLst/>
            <a:gdLst/>
            <a:ahLst/>
            <a:cxnLst/>
            <a:rect r="r" b="b" t="t" l="l"/>
            <a:pathLst>
              <a:path h="1992068" w="3945579">
                <a:moveTo>
                  <a:pt x="0" y="0"/>
                </a:moveTo>
                <a:lnTo>
                  <a:pt x="3945579" y="0"/>
                </a:lnTo>
                <a:lnTo>
                  <a:pt x="3945579" y="1992068"/>
                </a:lnTo>
                <a:lnTo>
                  <a:pt x="0" y="1992068"/>
                </a:lnTo>
                <a:lnTo>
                  <a:pt x="0" y="0"/>
                </a:lnTo>
                <a:close/>
              </a:path>
            </a:pathLst>
          </a:custGeom>
          <a:blipFill>
            <a:blip r:embed="rId9">
              <a:extLst>
                <a:ext uri="{96DAC541-7B7A-43D3-8B79-37D633B846F1}">
                  <asvg:svgBlip xmlns:asvg="http://schemas.microsoft.com/office/drawing/2016/SVG/main" r:embed="rId10"/>
                </a:ext>
              </a:extLst>
            </a:blip>
            <a:stretch>
              <a:fillRect l="0" t="-112" r="0" b="-112"/>
            </a:stretch>
          </a:blipFill>
        </p:spPr>
      </p:sp>
      <p:sp>
        <p:nvSpPr>
          <p:cNvPr name="TextBox 28" id="28"/>
          <p:cNvSpPr txBox="true"/>
          <p:nvPr/>
        </p:nvSpPr>
        <p:spPr>
          <a:xfrm rot="0">
            <a:off x="9435408" y="2974334"/>
            <a:ext cx="3635131" cy="731044"/>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Camera-Based Monitoring</a:t>
            </a:r>
          </a:p>
        </p:txBody>
      </p:sp>
      <p:sp>
        <p:nvSpPr>
          <p:cNvPr name="TextBox 29" id="29"/>
          <p:cNvSpPr txBox="true"/>
          <p:nvPr/>
        </p:nvSpPr>
        <p:spPr>
          <a:xfrm rot="0">
            <a:off x="9435408" y="3861492"/>
            <a:ext cx="3635131" cy="1076325"/>
          </a:xfrm>
          <a:prstGeom prst="rect">
            <a:avLst/>
          </a:prstGeom>
        </p:spPr>
        <p:txBody>
          <a:bodyPr anchor="t" rtlCol="false" tIns="0" lIns="0" bIns="0" rIns="0">
            <a:spAutoFit/>
          </a:bodyPr>
          <a:lstStyle/>
          <a:p>
            <a:pPr algn="l">
              <a:lnSpc>
                <a:spcPts val="2590"/>
              </a:lnSpc>
            </a:pPr>
            <a:r>
              <a:rPr lang="en-US" sz="1700">
                <a:solidFill>
                  <a:srgbClr val="333F70"/>
                </a:solidFill>
                <a:latin typeface="Open Sans"/>
                <a:ea typeface="Open Sans"/>
                <a:cs typeface="Open Sans"/>
                <a:sym typeface="Open Sans"/>
              </a:rPr>
              <a:t>Vision-based eyelid tracking and gaze direction analysis for enhanced drowsiness detection</a:t>
            </a:r>
          </a:p>
        </p:txBody>
      </p:sp>
      <p:sp>
        <p:nvSpPr>
          <p:cNvPr name="Freeform 30" id="30" descr="preencoded.png"/>
          <p:cNvSpPr/>
          <p:nvPr/>
        </p:nvSpPr>
        <p:spPr>
          <a:xfrm flipH="false" flipV="false" rot="0">
            <a:off x="13296605" y="2974334"/>
            <a:ext cx="3945731" cy="1992068"/>
          </a:xfrm>
          <a:custGeom>
            <a:avLst/>
            <a:gdLst/>
            <a:ahLst/>
            <a:cxnLst/>
            <a:rect r="r" b="b" t="t" l="l"/>
            <a:pathLst>
              <a:path h="1992068" w="3945731">
                <a:moveTo>
                  <a:pt x="0" y="0"/>
                </a:moveTo>
                <a:lnTo>
                  <a:pt x="3945731" y="0"/>
                </a:lnTo>
                <a:lnTo>
                  <a:pt x="3945731" y="1992068"/>
                </a:lnTo>
                <a:lnTo>
                  <a:pt x="0" y="1992068"/>
                </a:lnTo>
                <a:lnTo>
                  <a:pt x="0" y="0"/>
                </a:lnTo>
                <a:close/>
              </a:path>
            </a:pathLst>
          </a:custGeom>
          <a:blipFill>
            <a:blip r:embed="rId9">
              <a:extLst>
                <a:ext uri="{96DAC541-7B7A-43D3-8B79-37D633B846F1}">
                  <asvg:svgBlip xmlns:asvg="http://schemas.microsoft.com/office/drawing/2016/SVG/main" r:embed="rId10"/>
                </a:ext>
              </a:extLst>
            </a:blip>
            <a:stretch>
              <a:fillRect l="0" t="-114" r="0" b="-114"/>
            </a:stretch>
          </a:blipFill>
        </p:spPr>
      </p:sp>
      <p:sp>
        <p:nvSpPr>
          <p:cNvPr name="TextBox 31" id="31"/>
          <p:cNvSpPr txBox="true"/>
          <p:nvPr/>
        </p:nvSpPr>
        <p:spPr>
          <a:xfrm rot="0">
            <a:off x="13607063" y="2974334"/>
            <a:ext cx="3159766" cy="379809"/>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Machine Learning</a:t>
            </a:r>
          </a:p>
        </p:txBody>
      </p:sp>
      <p:sp>
        <p:nvSpPr>
          <p:cNvPr name="TextBox 32" id="32"/>
          <p:cNvSpPr txBox="true"/>
          <p:nvPr/>
        </p:nvSpPr>
        <p:spPr>
          <a:xfrm rot="0">
            <a:off x="13607063" y="3510258"/>
            <a:ext cx="3635273" cy="1076325"/>
          </a:xfrm>
          <a:prstGeom prst="rect">
            <a:avLst/>
          </a:prstGeom>
        </p:spPr>
        <p:txBody>
          <a:bodyPr anchor="t" rtlCol="false" tIns="0" lIns="0" bIns="0" rIns="0">
            <a:spAutoFit/>
          </a:bodyPr>
          <a:lstStyle/>
          <a:p>
            <a:pPr algn="l">
              <a:lnSpc>
                <a:spcPts val="2590"/>
              </a:lnSpc>
            </a:pPr>
            <a:r>
              <a:rPr lang="en-US" sz="1700">
                <a:solidFill>
                  <a:srgbClr val="333F70"/>
                </a:solidFill>
                <a:latin typeface="Open Sans"/>
                <a:ea typeface="Open Sans"/>
                <a:cs typeface="Open Sans"/>
                <a:sym typeface="Open Sans"/>
              </a:rPr>
              <a:t>Sensor fusion models for adaptive threshold learning and driver behaviour profiling</a:t>
            </a:r>
          </a:p>
        </p:txBody>
      </p:sp>
      <p:sp>
        <p:nvSpPr>
          <p:cNvPr name="Freeform 33" id="33" descr="preencoded.png"/>
          <p:cNvSpPr/>
          <p:nvPr/>
        </p:nvSpPr>
        <p:spPr>
          <a:xfrm flipH="false" flipV="false" rot="0">
            <a:off x="9124950" y="5316741"/>
            <a:ext cx="3945579" cy="1649168"/>
          </a:xfrm>
          <a:custGeom>
            <a:avLst/>
            <a:gdLst/>
            <a:ahLst/>
            <a:cxnLst/>
            <a:rect r="r" b="b" t="t" l="l"/>
            <a:pathLst>
              <a:path h="1649168" w="3945579">
                <a:moveTo>
                  <a:pt x="0" y="0"/>
                </a:moveTo>
                <a:lnTo>
                  <a:pt x="3945579" y="0"/>
                </a:lnTo>
                <a:lnTo>
                  <a:pt x="3945579" y="1649168"/>
                </a:lnTo>
                <a:lnTo>
                  <a:pt x="0" y="1649168"/>
                </a:lnTo>
                <a:lnTo>
                  <a:pt x="0" y="0"/>
                </a:lnTo>
                <a:close/>
              </a:path>
            </a:pathLst>
          </a:custGeom>
          <a:blipFill>
            <a:blip r:embed="rId11">
              <a:extLst>
                <a:ext uri="{96DAC541-7B7A-43D3-8B79-37D633B846F1}">
                  <asvg:svgBlip xmlns:asvg="http://schemas.microsoft.com/office/drawing/2016/SVG/main" r:embed="rId12"/>
                </a:ext>
              </a:extLst>
            </a:blip>
            <a:stretch>
              <a:fillRect l="0" t="-155" r="0" b="-155"/>
            </a:stretch>
          </a:blipFill>
        </p:spPr>
      </p:sp>
      <p:sp>
        <p:nvSpPr>
          <p:cNvPr name="TextBox 34" id="34"/>
          <p:cNvSpPr txBox="true"/>
          <p:nvPr/>
        </p:nvSpPr>
        <p:spPr>
          <a:xfrm rot="0">
            <a:off x="9435408" y="5316731"/>
            <a:ext cx="3607746" cy="379809"/>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CAN Bus Integration</a:t>
            </a:r>
          </a:p>
        </p:txBody>
      </p:sp>
      <p:sp>
        <p:nvSpPr>
          <p:cNvPr name="TextBox 35" id="35"/>
          <p:cNvSpPr txBox="true"/>
          <p:nvPr/>
        </p:nvSpPr>
        <p:spPr>
          <a:xfrm rot="0">
            <a:off x="9435408" y="5852665"/>
            <a:ext cx="3635131" cy="1076325"/>
          </a:xfrm>
          <a:prstGeom prst="rect">
            <a:avLst/>
          </a:prstGeom>
        </p:spPr>
        <p:txBody>
          <a:bodyPr anchor="t" rtlCol="false" tIns="0" lIns="0" bIns="0" rIns="0">
            <a:spAutoFit/>
          </a:bodyPr>
          <a:lstStyle/>
          <a:p>
            <a:pPr algn="l">
              <a:lnSpc>
                <a:spcPts val="2590"/>
              </a:lnSpc>
            </a:pPr>
            <a:r>
              <a:rPr lang="en-US" sz="1700">
                <a:solidFill>
                  <a:srgbClr val="333F70"/>
                </a:solidFill>
                <a:latin typeface="Open Sans"/>
                <a:ea typeface="Open Sans"/>
                <a:cs typeface="Open Sans"/>
                <a:sym typeface="Open Sans"/>
              </a:rPr>
              <a:t>Direct vehicle data access for real-time speed, throttle, and brake status</a:t>
            </a:r>
          </a:p>
        </p:txBody>
      </p:sp>
      <p:sp>
        <p:nvSpPr>
          <p:cNvPr name="Freeform 36" id="36" descr="preencoded.png"/>
          <p:cNvSpPr/>
          <p:nvPr/>
        </p:nvSpPr>
        <p:spPr>
          <a:xfrm flipH="false" flipV="false" rot="0">
            <a:off x="13296605" y="5316741"/>
            <a:ext cx="3945731" cy="1649168"/>
          </a:xfrm>
          <a:custGeom>
            <a:avLst/>
            <a:gdLst/>
            <a:ahLst/>
            <a:cxnLst/>
            <a:rect r="r" b="b" t="t" l="l"/>
            <a:pathLst>
              <a:path h="1649168" w="3945731">
                <a:moveTo>
                  <a:pt x="0" y="0"/>
                </a:moveTo>
                <a:lnTo>
                  <a:pt x="3945731" y="0"/>
                </a:lnTo>
                <a:lnTo>
                  <a:pt x="3945731" y="1649168"/>
                </a:lnTo>
                <a:lnTo>
                  <a:pt x="0" y="1649168"/>
                </a:lnTo>
                <a:lnTo>
                  <a:pt x="0" y="0"/>
                </a:lnTo>
                <a:close/>
              </a:path>
            </a:pathLst>
          </a:custGeom>
          <a:blipFill>
            <a:blip r:embed="rId11">
              <a:extLst>
                <a:ext uri="{96DAC541-7B7A-43D3-8B79-37D633B846F1}">
                  <asvg:svgBlip xmlns:asvg="http://schemas.microsoft.com/office/drawing/2016/SVG/main" r:embed="rId12"/>
                </a:ext>
              </a:extLst>
            </a:blip>
            <a:stretch>
              <a:fillRect l="0" t="-157" r="0" b="-157"/>
            </a:stretch>
          </a:blipFill>
        </p:spPr>
      </p:sp>
      <p:sp>
        <p:nvSpPr>
          <p:cNvPr name="Freeform 37" id="37" descr="preencoded.png"/>
          <p:cNvSpPr/>
          <p:nvPr/>
        </p:nvSpPr>
        <p:spPr>
          <a:xfrm flipH="false" flipV="false" rot="0">
            <a:off x="9124950" y="7316238"/>
            <a:ext cx="3945579" cy="1992068"/>
          </a:xfrm>
          <a:custGeom>
            <a:avLst/>
            <a:gdLst/>
            <a:ahLst/>
            <a:cxnLst/>
            <a:rect r="r" b="b" t="t" l="l"/>
            <a:pathLst>
              <a:path h="1992068" w="3945579">
                <a:moveTo>
                  <a:pt x="0" y="0"/>
                </a:moveTo>
                <a:lnTo>
                  <a:pt x="3945579" y="0"/>
                </a:lnTo>
                <a:lnTo>
                  <a:pt x="3945579" y="1992068"/>
                </a:lnTo>
                <a:lnTo>
                  <a:pt x="0" y="1992068"/>
                </a:lnTo>
                <a:lnTo>
                  <a:pt x="0" y="0"/>
                </a:lnTo>
                <a:close/>
              </a:path>
            </a:pathLst>
          </a:custGeom>
          <a:blipFill>
            <a:blip r:embed="rId9">
              <a:extLst>
                <a:ext uri="{96DAC541-7B7A-43D3-8B79-37D633B846F1}">
                  <asvg:svgBlip xmlns:asvg="http://schemas.microsoft.com/office/drawing/2016/SVG/main" r:embed="rId10"/>
                </a:ext>
              </a:extLst>
            </a:blip>
            <a:stretch>
              <a:fillRect l="0" t="-112" r="0" b="-112"/>
            </a:stretch>
          </a:blipFill>
        </p:spPr>
      </p:sp>
      <p:sp>
        <p:nvSpPr>
          <p:cNvPr name="TextBox 38" id="38"/>
          <p:cNvSpPr txBox="true"/>
          <p:nvPr/>
        </p:nvSpPr>
        <p:spPr>
          <a:xfrm rot="0">
            <a:off x="9435408" y="7316238"/>
            <a:ext cx="3635131" cy="731044"/>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Automatic Emergency Braking</a:t>
            </a:r>
          </a:p>
        </p:txBody>
      </p:sp>
      <p:sp>
        <p:nvSpPr>
          <p:cNvPr name="TextBox 39" id="39"/>
          <p:cNvSpPr txBox="true"/>
          <p:nvPr/>
        </p:nvSpPr>
        <p:spPr>
          <a:xfrm rot="0">
            <a:off x="9435408" y="8203406"/>
            <a:ext cx="3635131" cy="733425"/>
          </a:xfrm>
          <a:prstGeom prst="rect">
            <a:avLst/>
          </a:prstGeom>
        </p:spPr>
        <p:txBody>
          <a:bodyPr anchor="t" rtlCol="false" tIns="0" lIns="0" bIns="0" rIns="0">
            <a:spAutoFit/>
          </a:bodyPr>
          <a:lstStyle/>
          <a:p>
            <a:pPr algn="l">
              <a:lnSpc>
                <a:spcPts val="2590"/>
              </a:lnSpc>
            </a:pPr>
            <a:r>
              <a:rPr lang="en-US" sz="1700">
                <a:solidFill>
                  <a:srgbClr val="333F70"/>
                </a:solidFill>
                <a:latin typeface="Open Sans"/>
                <a:ea typeface="Open Sans"/>
                <a:cs typeface="Open Sans"/>
                <a:sym typeface="Open Sans"/>
              </a:rPr>
              <a:t>Actuator control beyond alerting for active collision mitigation</a:t>
            </a:r>
          </a:p>
        </p:txBody>
      </p:sp>
      <p:sp>
        <p:nvSpPr>
          <p:cNvPr name="Freeform 40" id="40" descr="preencoded.png"/>
          <p:cNvSpPr/>
          <p:nvPr/>
        </p:nvSpPr>
        <p:spPr>
          <a:xfrm flipH="false" flipV="false" rot="0">
            <a:off x="13296605" y="7316238"/>
            <a:ext cx="3945731" cy="1992068"/>
          </a:xfrm>
          <a:custGeom>
            <a:avLst/>
            <a:gdLst/>
            <a:ahLst/>
            <a:cxnLst/>
            <a:rect r="r" b="b" t="t" l="l"/>
            <a:pathLst>
              <a:path h="1992068" w="3945731">
                <a:moveTo>
                  <a:pt x="0" y="0"/>
                </a:moveTo>
                <a:lnTo>
                  <a:pt x="3945731" y="0"/>
                </a:lnTo>
                <a:lnTo>
                  <a:pt x="3945731" y="1992068"/>
                </a:lnTo>
                <a:lnTo>
                  <a:pt x="0" y="1992068"/>
                </a:lnTo>
                <a:lnTo>
                  <a:pt x="0" y="0"/>
                </a:lnTo>
                <a:close/>
              </a:path>
            </a:pathLst>
          </a:custGeom>
          <a:blipFill>
            <a:blip r:embed="rId9">
              <a:extLst>
                <a:ext uri="{96DAC541-7B7A-43D3-8B79-37D633B846F1}">
                  <asvg:svgBlip xmlns:asvg="http://schemas.microsoft.com/office/drawing/2016/SVG/main" r:embed="rId10"/>
                </a:ext>
              </a:extLst>
            </a:blip>
            <a:stretch>
              <a:fillRect l="0" t="-114" r="0" b="-114"/>
            </a:stretch>
          </a:blipFill>
        </p:spPr>
      </p:sp>
      <p:sp>
        <p:nvSpPr>
          <p:cNvPr name="TextBox 41" id="41"/>
          <p:cNvSpPr txBox="true"/>
          <p:nvPr/>
        </p:nvSpPr>
        <p:spPr>
          <a:xfrm rot="0">
            <a:off x="13624027" y="5288166"/>
            <a:ext cx="3635273" cy="731044"/>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Lane Departure Warning</a:t>
            </a:r>
          </a:p>
        </p:txBody>
      </p:sp>
      <p:sp>
        <p:nvSpPr>
          <p:cNvPr name="TextBox 42" id="42"/>
          <p:cNvSpPr txBox="true"/>
          <p:nvPr/>
        </p:nvSpPr>
        <p:spPr>
          <a:xfrm rot="0">
            <a:off x="13624027" y="5816208"/>
            <a:ext cx="3635273" cy="1076325"/>
          </a:xfrm>
          <a:prstGeom prst="rect">
            <a:avLst/>
          </a:prstGeom>
        </p:spPr>
        <p:txBody>
          <a:bodyPr anchor="t" rtlCol="false" tIns="0" lIns="0" bIns="0" rIns="0">
            <a:spAutoFit/>
          </a:bodyPr>
          <a:lstStyle/>
          <a:p>
            <a:pPr algn="l">
              <a:lnSpc>
                <a:spcPts val="2590"/>
              </a:lnSpc>
            </a:pPr>
            <a:r>
              <a:rPr lang="en-US" sz="1700">
                <a:solidFill>
                  <a:srgbClr val="333F70"/>
                </a:solidFill>
                <a:latin typeface="Open Sans"/>
                <a:ea typeface="Open Sans"/>
                <a:cs typeface="Open Sans"/>
                <a:sym typeface="Open Sans"/>
              </a:rPr>
              <a:t>Vision or GPS-based lane monitoring for additional safety coverage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6F5E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92238" y="660797"/>
            <a:ext cx="6994474" cy="404070"/>
          </a:xfrm>
          <a:prstGeom prst="rect">
            <a:avLst/>
          </a:prstGeom>
        </p:spPr>
        <p:txBody>
          <a:bodyPr anchor="t" rtlCol="false" tIns="0" lIns="0" bIns="0" rIns="0">
            <a:spAutoFit/>
          </a:bodyPr>
          <a:lstStyle/>
          <a:p>
            <a:pPr algn="l">
              <a:lnSpc>
                <a:spcPts val="2870"/>
              </a:lnSpc>
            </a:pPr>
            <a:r>
              <a:rPr lang="en-US" sz="2300" b="true">
                <a:solidFill>
                  <a:srgbClr val="333F70"/>
                </a:solidFill>
                <a:latin typeface="Arimo Bold"/>
                <a:ea typeface="Arimo Bold"/>
                <a:cs typeface="Arimo Bold"/>
                <a:sym typeface="Arimo Bold"/>
              </a:rPr>
              <a:t>Conclusion &amp; Acknowledgments</a:t>
            </a:r>
          </a:p>
        </p:txBody>
      </p:sp>
      <p:sp>
        <p:nvSpPr>
          <p:cNvPr name="TextBox 7" id="7"/>
          <p:cNvSpPr txBox="true"/>
          <p:nvPr/>
        </p:nvSpPr>
        <p:spPr>
          <a:xfrm rot="0">
            <a:off x="992238" y="1110253"/>
            <a:ext cx="11470329" cy="798614"/>
          </a:xfrm>
          <a:prstGeom prst="rect">
            <a:avLst/>
          </a:prstGeom>
        </p:spPr>
        <p:txBody>
          <a:bodyPr anchor="t" rtlCol="false" tIns="0" lIns="0" bIns="0" rIns="0">
            <a:spAutoFit/>
          </a:bodyPr>
          <a:lstStyle/>
          <a:p>
            <a:pPr algn="l">
              <a:lnSpc>
                <a:spcPts val="5865"/>
              </a:lnSpc>
            </a:pPr>
            <a:r>
              <a:rPr lang="en-US" sz="4700" b="true">
                <a:solidFill>
                  <a:srgbClr val="333F70"/>
                </a:solidFill>
                <a:latin typeface="Arimo Bold"/>
                <a:ea typeface="Arimo Bold"/>
                <a:cs typeface="Arimo Bold"/>
                <a:sym typeface="Arimo Bold"/>
              </a:rPr>
              <a:t>Key Takeaways &amp; Thank You</a:t>
            </a:r>
          </a:p>
        </p:txBody>
      </p:sp>
      <p:sp>
        <p:nvSpPr>
          <p:cNvPr name="TextBox 8" id="8"/>
          <p:cNvSpPr txBox="true"/>
          <p:nvPr/>
        </p:nvSpPr>
        <p:spPr>
          <a:xfrm rot="0">
            <a:off x="992238" y="2200866"/>
            <a:ext cx="16303523" cy="1381811"/>
          </a:xfrm>
          <a:prstGeom prst="rect">
            <a:avLst/>
          </a:prstGeom>
        </p:spPr>
        <p:txBody>
          <a:bodyPr anchor="t" rtlCol="false" tIns="0" lIns="0" bIns="0" rIns="0">
            <a:spAutoFit/>
          </a:bodyPr>
          <a:lstStyle/>
          <a:p>
            <a:pPr algn="l">
              <a:lnSpc>
                <a:spcPts val="2829"/>
              </a:lnSpc>
            </a:pPr>
            <a:r>
              <a:rPr lang="en-US" sz="1800">
                <a:solidFill>
                  <a:srgbClr val="333F70"/>
                </a:solidFill>
                <a:latin typeface="Open Sans"/>
                <a:ea typeface="Open Sans"/>
                <a:cs typeface="Open Sans"/>
                <a:sym typeface="Open Sans"/>
              </a:rPr>
              <a:t>This project successfully demonstrates a real-time embedded Driver Monitoring &amp; Collision Alert prototype on the STM32 Nucleo-F446RE. The system integrates ultrasonic, inertial, GPS, and infrared sensors to continuously monitor driver behaviour, calculate dynamic safe stopping distances, detect unsafe driving conditions, and generate instant safety alerts. The implementation validates core ADAS concepts using low-costvembedded hardware  suitable for low-speed prototype validation and educational demonstration.</a:t>
            </a:r>
          </a:p>
        </p:txBody>
      </p:sp>
      <p:sp>
        <p:nvSpPr>
          <p:cNvPr name="Freeform 9" id="9" descr="preencoded.png"/>
          <p:cNvSpPr/>
          <p:nvPr/>
        </p:nvSpPr>
        <p:spPr>
          <a:xfrm flipH="false" flipV="false" rot="0">
            <a:off x="992238" y="4033685"/>
            <a:ext cx="5279231" cy="1771498"/>
          </a:xfrm>
          <a:custGeom>
            <a:avLst/>
            <a:gdLst/>
            <a:ahLst/>
            <a:cxnLst/>
            <a:rect r="r" b="b" t="t" l="l"/>
            <a:pathLst>
              <a:path h="1771498" w="5279231">
                <a:moveTo>
                  <a:pt x="0" y="0"/>
                </a:moveTo>
                <a:lnTo>
                  <a:pt x="5279232" y="0"/>
                </a:lnTo>
                <a:lnTo>
                  <a:pt x="5279232" y="1771498"/>
                </a:lnTo>
                <a:lnTo>
                  <a:pt x="0" y="1771498"/>
                </a:lnTo>
                <a:lnTo>
                  <a:pt x="0" y="0"/>
                </a:lnTo>
                <a:close/>
              </a:path>
            </a:pathLst>
          </a:custGeom>
          <a:blipFill>
            <a:blip r:embed="rId3">
              <a:extLst>
                <a:ext uri="{96DAC541-7B7A-43D3-8B79-37D633B846F1}">
                  <asvg:svgBlip xmlns:asvg="http://schemas.microsoft.com/office/drawing/2016/SVG/main" r:embed="rId4"/>
                </a:ext>
              </a:extLst>
            </a:blip>
            <a:stretch>
              <a:fillRect l="-63" t="0" r="-63" b="0"/>
            </a:stretch>
          </a:blipFill>
        </p:spPr>
      </p:sp>
      <p:sp>
        <p:nvSpPr>
          <p:cNvPr name="TextBox 10" id="10"/>
          <p:cNvSpPr txBox="true"/>
          <p:nvPr/>
        </p:nvSpPr>
        <p:spPr>
          <a:xfrm rot="0">
            <a:off x="1241974" y="4254846"/>
            <a:ext cx="3744668" cy="404070"/>
          </a:xfrm>
          <a:prstGeom prst="rect">
            <a:avLst/>
          </a:prstGeom>
        </p:spPr>
        <p:txBody>
          <a:bodyPr anchor="t" rtlCol="false" tIns="0" lIns="0" bIns="0" rIns="0">
            <a:spAutoFit/>
          </a:bodyPr>
          <a:lstStyle/>
          <a:p>
            <a:pPr algn="l">
              <a:lnSpc>
                <a:spcPts val="2870"/>
              </a:lnSpc>
            </a:pPr>
            <a:r>
              <a:rPr lang="en-US" sz="2300" b="true">
                <a:solidFill>
                  <a:srgbClr val="333F70"/>
                </a:solidFill>
                <a:latin typeface="Arimo Bold"/>
                <a:ea typeface="Arimo Bold"/>
                <a:cs typeface="Arimo Bold"/>
                <a:sym typeface="Arimo Bold"/>
              </a:rPr>
              <a:t>Multi-Sensor Fusion</a:t>
            </a:r>
          </a:p>
        </p:txBody>
      </p:sp>
      <p:sp>
        <p:nvSpPr>
          <p:cNvPr name="TextBox 11" id="11"/>
          <p:cNvSpPr txBox="true"/>
          <p:nvPr/>
        </p:nvSpPr>
        <p:spPr>
          <a:xfrm rot="0">
            <a:off x="1241974" y="4741364"/>
            <a:ext cx="4779759" cy="676961"/>
          </a:xfrm>
          <a:prstGeom prst="rect">
            <a:avLst/>
          </a:prstGeom>
        </p:spPr>
        <p:txBody>
          <a:bodyPr anchor="t" rtlCol="false" tIns="0" lIns="0" bIns="0" rIns="0">
            <a:spAutoFit/>
          </a:bodyPr>
          <a:lstStyle/>
          <a:p>
            <a:pPr algn="l">
              <a:lnSpc>
                <a:spcPts val="2829"/>
              </a:lnSpc>
            </a:pPr>
            <a:r>
              <a:rPr lang="en-US" sz="1800">
                <a:solidFill>
                  <a:srgbClr val="333F70"/>
                </a:solidFill>
                <a:latin typeface="Open Sans"/>
                <a:ea typeface="Open Sans"/>
                <a:cs typeface="Open Sans"/>
                <a:sym typeface="Open Sans"/>
              </a:rPr>
              <a:t>Four sensors, three protocols, one MCU  deterministic real-time integration</a:t>
            </a:r>
          </a:p>
        </p:txBody>
      </p:sp>
      <p:sp>
        <p:nvSpPr>
          <p:cNvPr name="Freeform 12" id="12" descr="preencoded.png"/>
          <p:cNvSpPr/>
          <p:nvPr/>
        </p:nvSpPr>
        <p:spPr>
          <a:xfrm flipH="false" flipV="false" rot="0">
            <a:off x="6504232" y="4033685"/>
            <a:ext cx="5279384" cy="1771498"/>
          </a:xfrm>
          <a:custGeom>
            <a:avLst/>
            <a:gdLst/>
            <a:ahLst/>
            <a:cxnLst/>
            <a:rect r="r" b="b" t="t" l="l"/>
            <a:pathLst>
              <a:path h="1771498" w="5279384">
                <a:moveTo>
                  <a:pt x="0" y="0"/>
                </a:moveTo>
                <a:lnTo>
                  <a:pt x="5279384" y="0"/>
                </a:lnTo>
                <a:lnTo>
                  <a:pt x="5279384" y="1771498"/>
                </a:lnTo>
                <a:lnTo>
                  <a:pt x="0" y="1771498"/>
                </a:lnTo>
                <a:lnTo>
                  <a:pt x="0" y="0"/>
                </a:lnTo>
                <a:close/>
              </a:path>
            </a:pathLst>
          </a:custGeom>
          <a:blipFill>
            <a:blip r:embed="rId3">
              <a:extLst>
                <a:ext uri="{96DAC541-7B7A-43D3-8B79-37D633B846F1}">
                  <asvg:svgBlip xmlns:asvg="http://schemas.microsoft.com/office/drawing/2016/SVG/main" r:embed="rId4"/>
                </a:ext>
              </a:extLst>
            </a:blip>
            <a:stretch>
              <a:fillRect l="-62" t="0" r="-62" b="0"/>
            </a:stretch>
          </a:blipFill>
        </p:spPr>
      </p:sp>
      <p:sp>
        <p:nvSpPr>
          <p:cNvPr name="TextBox 13" id="13"/>
          <p:cNvSpPr txBox="true"/>
          <p:nvPr/>
        </p:nvSpPr>
        <p:spPr>
          <a:xfrm rot="0">
            <a:off x="6753968" y="4254846"/>
            <a:ext cx="4202906" cy="404070"/>
          </a:xfrm>
          <a:prstGeom prst="rect">
            <a:avLst/>
          </a:prstGeom>
        </p:spPr>
        <p:txBody>
          <a:bodyPr anchor="t" rtlCol="false" tIns="0" lIns="0" bIns="0" rIns="0">
            <a:spAutoFit/>
          </a:bodyPr>
          <a:lstStyle/>
          <a:p>
            <a:pPr algn="l">
              <a:lnSpc>
                <a:spcPts val="2870"/>
              </a:lnSpc>
            </a:pPr>
            <a:r>
              <a:rPr lang="en-US" sz="2300" b="true">
                <a:solidFill>
                  <a:srgbClr val="333F70"/>
                </a:solidFill>
                <a:latin typeface="Arimo Bold"/>
                <a:ea typeface="Arimo Bold"/>
                <a:cs typeface="Arimo Bold"/>
                <a:sym typeface="Arimo Bold"/>
              </a:rPr>
              <a:t>Adaptive Safety Logic</a:t>
            </a:r>
          </a:p>
        </p:txBody>
      </p:sp>
      <p:sp>
        <p:nvSpPr>
          <p:cNvPr name="TextBox 14" id="14"/>
          <p:cNvSpPr txBox="true"/>
          <p:nvPr/>
        </p:nvSpPr>
        <p:spPr>
          <a:xfrm rot="0">
            <a:off x="6753968" y="4741364"/>
            <a:ext cx="4779912" cy="814092"/>
          </a:xfrm>
          <a:prstGeom prst="rect">
            <a:avLst/>
          </a:prstGeom>
        </p:spPr>
        <p:txBody>
          <a:bodyPr anchor="t" rtlCol="false" tIns="0" lIns="0" bIns="0" rIns="0">
            <a:spAutoFit/>
          </a:bodyPr>
          <a:lstStyle/>
          <a:p>
            <a:pPr algn="l">
              <a:lnSpc>
                <a:spcPts val="2829"/>
              </a:lnSpc>
            </a:pPr>
            <a:r>
              <a:rPr lang="en-US" sz="1800">
                <a:solidFill>
                  <a:srgbClr val="333F70"/>
                </a:solidFill>
                <a:latin typeface="Open Sans"/>
                <a:ea typeface="Open Sans"/>
                <a:cs typeface="Open Sans"/>
                <a:sym typeface="Open Sans"/>
              </a:rPr>
              <a:t>Dynamic safe distance model adapts to vehicle speed, not static thresholds</a:t>
            </a:r>
          </a:p>
        </p:txBody>
      </p:sp>
      <p:grpSp>
        <p:nvGrpSpPr>
          <p:cNvPr name="Group 15" id="15"/>
          <p:cNvGrpSpPr/>
          <p:nvPr/>
        </p:nvGrpSpPr>
        <p:grpSpPr>
          <a:xfrm rot="0">
            <a:off x="992238" y="6126956"/>
            <a:ext cx="16303523" cy="28575"/>
            <a:chOff x="0" y="0"/>
            <a:chExt cx="21738031" cy="38100"/>
          </a:xfrm>
        </p:grpSpPr>
        <p:sp>
          <p:nvSpPr>
            <p:cNvPr name="Freeform 16" id="16"/>
            <p:cNvSpPr/>
            <p:nvPr/>
          </p:nvSpPr>
          <p:spPr>
            <a:xfrm flipH="false" flipV="false" rot="0">
              <a:off x="0" y="0"/>
              <a:ext cx="21738082" cy="38100"/>
            </a:xfrm>
            <a:custGeom>
              <a:avLst/>
              <a:gdLst/>
              <a:ahLst/>
              <a:cxnLst/>
              <a:rect r="r" b="b" t="t" l="l"/>
              <a:pathLst>
                <a:path h="38100" w="21738082">
                  <a:moveTo>
                    <a:pt x="0" y="19050"/>
                  </a:moveTo>
                  <a:cubicBezTo>
                    <a:pt x="0" y="8509"/>
                    <a:pt x="8509" y="0"/>
                    <a:pt x="19050" y="0"/>
                  </a:cubicBezTo>
                  <a:lnTo>
                    <a:pt x="21719032" y="0"/>
                  </a:lnTo>
                  <a:cubicBezTo>
                    <a:pt x="21729573" y="0"/>
                    <a:pt x="21738082" y="8509"/>
                    <a:pt x="21738082" y="19050"/>
                  </a:cubicBezTo>
                  <a:cubicBezTo>
                    <a:pt x="21738082" y="29591"/>
                    <a:pt x="21729573" y="38100"/>
                    <a:pt x="21719032" y="38100"/>
                  </a:cubicBezTo>
                  <a:lnTo>
                    <a:pt x="19050" y="38100"/>
                  </a:lnTo>
                  <a:cubicBezTo>
                    <a:pt x="8509" y="38100"/>
                    <a:pt x="0" y="29591"/>
                    <a:pt x="0" y="19050"/>
                  </a:cubicBezTo>
                  <a:close/>
                </a:path>
              </a:pathLst>
            </a:custGeom>
            <a:solidFill>
              <a:srgbClr val="333F70">
                <a:alpha val="24706"/>
              </a:srgbClr>
            </a:solidFill>
          </p:spPr>
        </p:sp>
      </p:grpSp>
      <p:sp>
        <p:nvSpPr>
          <p:cNvPr name="TextBox 17" id="17"/>
          <p:cNvSpPr txBox="true"/>
          <p:nvPr/>
        </p:nvSpPr>
        <p:spPr>
          <a:xfrm rot="0">
            <a:off x="992238" y="6478934"/>
            <a:ext cx="12931378" cy="1587703"/>
          </a:xfrm>
          <a:prstGeom prst="rect">
            <a:avLst/>
          </a:prstGeom>
        </p:spPr>
        <p:txBody>
          <a:bodyPr anchor="t" rtlCol="false" tIns="0" lIns="0" bIns="0" rIns="0">
            <a:spAutoFit/>
          </a:bodyPr>
          <a:lstStyle/>
          <a:p>
            <a:pPr algn="l">
              <a:lnSpc>
                <a:spcPts val="11731"/>
              </a:lnSpc>
            </a:pPr>
            <a:r>
              <a:rPr lang="en-US" sz="9400" b="true">
                <a:solidFill>
                  <a:srgbClr val="333F70"/>
                </a:solidFill>
                <a:latin typeface="Arimo Bold"/>
                <a:ea typeface="Arimo Bold"/>
                <a:cs typeface="Arimo Bold"/>
                <a:sym typeface="Arimo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DAHNmM2q3Gs</dc:identifier>
  <dcterms:modified xsi:type="dcterms:W3CDTF">2011-08-01T06:04:30Z</dcterms:modified>
  <cp:revision>1</cp:revision>
  <dc:title>Smart-Driver-Monitoring-and-Collision-Alert-System.pptx</dc:title>
</cp:coreProperties>
</file>